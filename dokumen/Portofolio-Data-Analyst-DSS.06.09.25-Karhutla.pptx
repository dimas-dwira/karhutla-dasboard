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fdc643f1-e608-782c-5ce2-3b900827ee98}">
          <p14:sldIdLst>
            <p14:sldId id="256"/>
          </p14:sldIdLst>
        </p14:section>
        <p14:section name="Ringkasan" id="{e7177340-567a-daa9-7f3d-825af4a245f7}">
          <p14:sldIdLst>
            <p14:sldId id="257"/>
            <p14:sldId id="258"/>
          </p14:sldIdLst>
        </p14:section>
        <p14:section name="Kebutuhan dan perencanaan" id="{9d10bbf7-5a40-ebd6-c8d7-0f26f0ac2506}">
          <p14:sldIdLst>
            <p14:sldId id="259"/>
            <p14:sldId id="260"/>
            <p14:sldId id="261"/>
            <p14:sldId id="262"/>
            <p14:sldId id="263"/>
          </p14:sldIdLst>
        </p14:section>
        <p14:section name="Pengolahan data" id="{452ba736-4c4f-9408-ac52-44bcb7458381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Business Intelligence" id="{52b21517-016e-8b39-67b8-6b77616853e9}">
          <p14:sldIdLst>
            <p14:sldId id="272"/>
            <p14:sldId id="273"/>
            <p14:sldId id="274"/>
          </p14:sldIdLst>
        </p14:section>
        <p14:section name="Penutup" id="{b5aa18f0-12e7-8d78-9b3d-725ae6d0049f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Luas terbakar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65706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  <c:pt idx="8">
                    <c:v>2026*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518</c:v>
                </c:pt>
                <c:pt idx="1">
                  <c:v>1625</c:v>
                </c:pt>
                <c:pt idx="2">
                  <c:v>283</c:v>
                </c:pt>
                <c:pt idx="3">
                  <c:v>352</c:v>
                </c:pt>
                <c:pt idx="4">
                  <c:v>205</c:v>
                </c:pt>
                <c:pt idx="5">
                  <c:v>1007</c:v>
                </c:pt>
                <c:pt idx="6">
                  <c:v>377</c:v>
                </c:pt>
                <c:pt idx="7">
                  <c:v>360</c:v>
                </c:pt>
                <c:pt idx="8">
                  <c:v>202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65706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0"/>
          <c:min val="0"/>
        </c:scaling>
        <c:delete val="0"/>
        <c:axPos val="l"/>
        <c:majorGridlines>
          <c:spPr>
            <a:ln w="12700" cap="flat">
              <a:solidFill>
                <a:srgbClr val="E2E5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0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DF9"/>
        </a:solidFill>
        <a:ln>
          <a:noFill/>
        </a:ln>
        <a:effectLst/>
      </c:spPr>
    </c:plotArea>
    <c:plotVisOnly val="1"/>
    <c:dispBlanksAs val="span"/>
  </c:chart>
  <c:spPr>
    <a:solidFill>
      <a:srgbClr val="FFFD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Daerah terdampak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65706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  <c:pt idx="8">
                    <c:v>2026*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226</c:v>
                </c:pt>
                <c:pt idx="1">
                  <c:v>297</c:v>
                </c:pt>
                <c:pt idx="2">
                  <c:v>304</c:v>
                </c:pt>
                <c:pt idx="3">
                  <c:v>270</c:v>
                </c:pt>
                <c:pt idx="4">
                  <c:v>290</c:v>
                </c:pt>
                <c:pt idx="5">
                  <c:v>345</c:v>
                </c:pt>
                <c:pt idx="6">
                  <c:v>358</c:v>
                </c:pt>
                <c:pt idx="7">
                  <c:v>328</c:v>
                </c:pt>
                <c:pt idx="8">
                  <c:v>340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65706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12700" cap="flat">
              <a:solidFill>
                <a:srgbClr val="E2E5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0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DF9"/>
        </a:solidFill>
        <a:ln>
          <a:noFill/>
        </a:ln>
        <a:effectLst/>
      </c:spPr>
    </c:plotArea>
    <c:plotVisOnly val="1"/>
    <c:dispBlanksAs val="span"/>
  </c:chart>
  <c:spPr>
    <a:solidFill>
      <a:srgbClr val="FFFD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Luas 2025 (ha)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65706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Maluku Barat Daya</c:v>
                  </c:pt>
                  <c:pt idx="1">
                    <c:v>Merauke</c:v>
                  </c:pt>
                  <c:pt idx="2">
                    <c:v>Sumbawa</c:v>
                  </c:pt>
                  <c:pt idx="3">
                    <c:v>Padang Lawas</c:v>
                  </c:pt>
                  <c:pt idx="4">
                    <c:v>Bima</c:v>
                  </c:pt>
                  <c:pt idx="5">
                    <c:v>Kepulauan Tanimbar</c:v>
                  </c:pt>
                  <c:pt idx="6">
                    <c:v>Sumba Tengah</c:v>
                  </c:pt>
                  <c:pt idx="7">
                    <c:v>Rokan Hilir</c:v>
                  </c:pt>
                  <c:pt idx="8">
                    <c:v>Alor</c:v>
                  </c:pt>
                  <c:pt idx="9">
                    <c:v>Sumba Timur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7965</c:v>
                </c:pt>
                <c:pt idx="1">
                  <c:v>8080</c:v>
                </c:pt>
                <c:pt idx="2">
                  <c:v>8560</c:v>
                </c:pt>
                <c:pt idx="3">
                  <c:v>9478</c:v>
                </c:pt>
                <c:pt idx="4">
                  <c:v>9769</c:v>
                </c:pt>
                <c:pt idx="5">
                  <c:v>11379</c:v>
                </c:pt>
                <c:pt idx="6">
                  <c:v>11453</c:v>
                </c:pt>
                <c:pt idx="7">
                  <c:v>12764</c:v>
                </c:pt>
                <c:pt idx="8">
                  <c:v>22129</c:v>
                </c:pt>
                <c:pt idx="9">
                  <c:v>48164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65706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0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DF9"/>
        </a:solidFill>
        <a:ln>
          <a:noFill/>
        </a:ln>
        <a:effectLst/>
      </c:spPr>
    </c:plotArea>
    <c:plotVisOnly val="1"/>
    <c:dispBlanksAs val="span"/>
  </c:chart>
  <c:spPr>
    <a:solidFill>
      <a:srgbClr val="FFFD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Perkenalan diri, sebutkan skema dan dataset. Seluruh 8 unit dikerjakan pada satu studi kasus utuh.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Mulai dari angka, bukan dari proses.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Jangan bacakan satu per satu. Katakan tiap unit punya artefak sendiri.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Transisi: dua unit pertama adalah pekerjaan sebelum menyentuh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Sebutkan batasan data sejak awal.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Pemangku kepentingan: Direktorat Pengendalian Karhutla, BPBD provinsi, Bappeda kabupaten, unit monev, humas.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keputusan menyimpan baris agregat, bukan membuangnya.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Provinsi diturunkan dari kode wilayah, jadi tidak mungkin tidak konsisten dengan kabupatennya.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Transisi ke bagian teknis.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Hash SHA-256 dicatat supaya kalau angka berubah, bisa dibuktikan berkas sumbernya memang berbeda.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 grafik terpisah, bukan sumbu ganda: skala berbeda tidak boleh dipaksa ke satu sumbu.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Sebaran sangat miring ke kanan. Rata-rata nasional menyesatkan untuk perencanaan.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Aturan blocker menghentikan pipeline. Lebih baik berhenti daripada memuat data salah ke dashboard publik.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Siapkan jawaban untuk pertanyaan asesor: kenapa tidak dikoreksi sendiri.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Granularitas inilah yang mengeluarkan baris Total: baris itu ada di level nasional, bukan kabupaten.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asesor yang sering muncul: kenapa outlier tidak dihapus.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Transisi ke unit terakhir.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Halaman kualitas data membuat pengguna tahu angka mana yang belum tuntas sebelum mengutipnya.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yang membedakan analis data dari operator alat: rekomendasi harus bisa ditindaklanjuti.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tenang. Tiga pertanyaan di kanan paling sering ditanyakan asesor.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5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25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694944"/>
            <a:ext cx="97228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B201D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B201D"/>
                </a:solidFill>
              </a:rPr>
              <a:t> 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54480"/>
            <a:ext cx="9722815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dirty="0">
                <a:solidFill>
                  <a:srgbClr val="65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50" dirty="0">
                <a:solidFill>
                  <a:srgbClr val="65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LOS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5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11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image" Target="../media/image-13-2.png"/><Relationship Id="rId6" Type="http://schemas.openxmlformats.org/officeDocument/2006/relationships/image" Target="../media/image-13-2.png"/><Relationship Id="rId7" Type="http://schemas.openxmlformats.org/officeDocument/2006/relationships/image" Target="../media/image-13-2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1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1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ta-atas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pita-bawah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FDEDE6"/>
          </a:solidFill>
          <a:ln w="12700">
            <a:solidFill>
              <a:srgbClr val="FDEDE6"/>
            </a:solidFill>
            <a:prstDash val="solid"/>
          </a:ln>
        </p:spPr>
      </p:sp>
      <p:sp>
        <p:nvSpPr>
          <p:cNvPr id="4" name="bulatan-api"/>
          <p:cNvSpPr/>
          <p:nvPr/>
        </p:nvSpPr>
        <p:spPr>
          <a:xfrm>
            <a:off x="731520" y="1097280"/>
            <a:ext cx="914400" cy="914400"/>
          </a:xfrm>
          <a:prstGeom prst="ellipse">
            <a:avLst/>
          </a:prstGeom>
          <a:solidFill>
            <a:srgbClr val="FDEDE6"/>
          </a:solidFill>
          <a:ln w="12700">
            <a:solidFill>
              <a:srgbClr val="FDEDE6"/>
            </a:solidFill>
            <a:prstDash val="solid"/>
          </a:ln>
        </p:spPr>
      </p:sp>
      <p:pic>
        <p:nvPicPr>
          <p:cNvPr id="5" name="Image 0" descr="/home/claude/deck/assets/icons/a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3441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335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B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 ASESMEN KOMPETENSI  ·  BNSP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spc="-160" kern="0" dirty="0">
                <a:solidFill>
                  <a:srgbClr val="1B2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Analis Data</a:t>
            </a:r>
            <a:endParaRPr lang="en-US" sz="7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564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570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Skema Okupasi DSS.06.09.25</a:t>
            </a:r>
            <a:endParaRPr lang="en-US" sz="3000" dirty="0"/>
          </a:p>
        </p:txBody>
      </p:sp>
      <p:sp>
        <p:nvSpPr>
          <p:cNvPr id="9" name="tanda-meta"/>
          <p:cNvSpPr/>
          <p:nvPr/>
        </p:nvSpPr>
        <p:spPr>
          <a:xfrm>
            <a:off x="731520" y="4983480"/>
            <a:ext cx="457200" cy="54864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193792"/>
            <a:ext cx="23164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93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449824"/>
            <a:ext cx="231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Kebakaran hutan dan lahan</a:t>
            </a:r>
            <a:endParaRPr lang="en-US" sz="1300" dirty="0"/>
          </a:p>
        </p:txBody>
      </p:sp>
      <p:sp>
        <p:nvSpPr>
          <p:cNvPr id="12" name="tanda-meta"/>
          <p:cNvSpPr/>
          <p:nvPr/>
        </p:nvSpPr>
        <p:spPr>
          <a:xfrm>
            <a:off x="3413684" y="4983480"/>
            <a:ext cx="457200" cy="54864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13684" y="5193792"/>
            <a:ext cx="23164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93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CAKUPAN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3413684" y="5449824"/>
            <a:ext cx="231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514 kabupaten/kota, 2018–2026</a:t>
            </a:r>
            <a:endParaRPr lang="en-US" sz="1300" dirty="0"/>
          </a:p>
        </p:txBody>
      </p:sp>
      <p:sp>
        <p:nvSpPr>
          <p:cNvPr id="15" name="tanda-meta"/>
          <p:cNvSpPr/>
          <p:nvPr/>
        </p:nvSpPr>
        <p:spPr>
          <a:xfrm>
            <a:off x="6095848" y="4983480"/>
            <a:ext cx="457200" cy="54864"/>
          </a:xfrm>
          <a:prstGeom prst="rect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95848" y="5193792"/>
            <a:ext cx="23164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93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KOMPETENSI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095848" y="5449824"/>
            <a:ext cx="231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8 unit · SKKNI 2020-268 &amp; 299</a:t>
            </a:r>
            <a:endParaRPr lang="en-US" sz="1300" dirty="0"/>
          </a:p>
        </p:txBody>
      </p:sp>
      <p:sp>
        <p:nvSpPr>
          <p:cNvPr id="18" name="tanda-meta"/>
          <p:cNvSpPr/>
          <p:nvPr/>
        </p:nvSpPr>
        <p:spPr>
          <a:xfrm>
            <a:off x="8778011" y="4983480"/>
            <a:ext cx="457200" cy="54864"/>
          </a:xfrm>
          <a:prstGeom prst="rect">
            <a:avLst/>
          </a:prstGeom>
          <a:solidFill>
            <a:srgbClr val="128A61"/>
          </a:solidFill>
          <a:ln w="12700">
            <a:solidFill>
              <a:srgbClr val="128A6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78011" y="5193792"/>
            <a:ext cx="23164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939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INSTITUSI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778011" y="5449824"/>
            <a:ext cx="231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Institut Teknologi Sumatera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2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pPr algn="l" indent="0" marL="0">
              <a:buNone/>
            </a:pPr>
            <a:r>
              <a:rPr lang="en-US" sz="1000" b="1" spc="25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RINGKASAN EKSEKUTIF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694944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01D"/>
                </a:solidFill>
              </a:rPr>
              <a:t>Satu berkas, satu temuan tak terduga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54480"/>
            <a:ext cx="97228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5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data siap pakai — dan satu angka resmi yang belum tuntas.</a:t>
            </a:r>
            <a:endParaRPr lang="en-US" sz="1350" dirty="0"/>
          </a:p>
        </p:txBody>
      </p:sp>
      <p:sp>
        <p:nvSpPr>
          <p:cNvPr id="5" name="garis"/>
          <p:cNvSpPr/>
          <p:nvPr/>
        </p:nvSpPr>
        <p:spPr>
          <a:xfrm>
            <a:off x="731520" y="1883664"/>
            <a:ext cx="10728655" cy="25603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bulatan-api"/>
          <p:cNvSpPr/>
          <p:nvPr/>
        </p:nvSpPr>
        <p:spPr>
          <a:xfrm>
            <a:off x="10710367" y="694944"/>
            <a:ext cx="749808" cy="749808"/>
          </a:xfrm>
          <a:prstGeom prst="ellipse">
            <a:avLst/>
          </a:prstGeom>
          <a:solidFill>
            <a:srgbClr val="FDEDE6"/>
          </a:solidFill>
          <a:ln w="12700">
            <a:solidFill>
              <a:srgbClr val="FDEDE6"/>
            </a:solidFill>
            <a:prstDash val="solid"/>
          </a:ln>
        </p:spPr>
      </p:sp>
      <p:pic>
        <p:nvPicPr>
          <p:cNvPr id="7" name="Image 0" descr="/home/claude/deck/assets/icons/a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815" y="897392"/>
            <a:ext cx="344912" cy="344912"/>
          </a:xfrm>
          <a:prstGeom prst="rect">
            <a:avLst/>
          </a:prstGeom>
        </p:spPr>
      </p:pic>
      <p:sp>
        <p:nvSpPr>
          <p:cNvPr id="8" name="kartu-kabupaten/kota"/>
          <p:cNvSpPr/>
          <p:nvPr/>
        </p:nvSpPr>
        <p:spPr>
          <a:xfrm>
            <a:off x="731520" y="2194560"/>
            <a:ext cx="2476424" cy="1901952"/>
          </a:xfrm>
          <a:prstGeom prst="rect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sp>
        <p:nvSpPr>
          <p:cNvPr id="9" name="tanda-kabupaten/kota"/>
          <p:cNvSpPr/>
          <p:nvPr/>
        </p:nvSpPr>
        <p:spPr>
          <a:xfrm>
            <a:off x="731520" y="2194560"/>
            <a:ext cx="2476424" cy="73152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bulatan-peta"/>
          <p:cNvSpPr/>
          <p:nvPr/>
        </p:nvSpPr>
        <p:spPr>
          <a:xfrm>
            <a:off x="1005840" y="2450592"/>
            <a:ext cx="566928" cy="56692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11" name="Image 1" descr="/home/claude/deck/assets/icons/pe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11" y="2603663"/>
            <a:ext cx="260787" cy="2607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05840" y="3054096"/>
            <a:ext cx="1927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2A78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514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1005840" y="3675888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kabupaten/kota</a:t>
            </a:r>
            <a:endParaRPr lang="en-US" sz="1300" dirty="0"/>
          </a:p>
        </p:txBody>
      </p:sp>
      <p:sp>
        <p:nvSpPr>
          <p:cNvPr id="14" name="kartu-baris tabel fakta"/>
          <p:cNvSpPr/>
          <p:nvPr/>
        </p:nvSpPr>
        <p:spPr>
          <a:xfrm>
            <a:off x="3482264" y="2194560"/>
            <a:ext cx="2476424" cy="1901952"/>
          </a:xfrm>
          <a:prstGeom prst="rect">
            <a:avLst/>
          </a:prstGeom>
          <a:solidFill>
            <a:srgbClr val="E4F3EE"/>
          </a:solidFill>
          <a:ln w="12700">
            <a:solidFill>
              <a:srgbClr val="E4F3EE"/>
            </a:solidFill>
            <a:prstDash val="solid"/>
          </a:ln>
        </p:spPr>
      </p:sp>
      <p:sp>
        <p:nvSpPr>
          <p:cNvPr id="15" name="tanda-baris tabel fakta"/>
          <p:cNvSpPr/>
          <p:nvPr/>
        </p:nvSpPr>
        <p:spPr>
          <a:xfrm>
            <a:off x="3482264" y="2194560"/>
            <a:ext cx="2476424" cy="73152"/>
          </a:xfrm>
          <a:prstGeom prst="rect">
            <a:avLst/>
          </a:prstGeom>
          <a:solidFill>
            <a:srgbClr val="128A61"/>
          </a:solidFill>
          <a:ln w="12700">
            <a:solidFill>
              <a:srgbClr val="128A61"/>
            </a:solidFill>
            <a:prstDash val="solid"/>
          </a:ln>
        </p:spPr>
      </p:sp>
      <p:sp>
        <p:nvSpPr>
          <p:cNvPr id="16" name="bulatan-excel"/>
          <p:cNvSpPr/>
          <p:nvPr/>
        </p:nvSpPr>
        <p:spPr>
          <a:xfrm>
            <a:off x="3756584" y="2450592"/>
            <a:ext cx="566928" cy="56692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17" name="Image 2" descr="/home/claude/deck/assets/icons/exc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654" y="2603663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756584" y="3054096"/>
            <a:ext cx="1927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128A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4.626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3756584" y="3675888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baris tabel fakta</a:t>
            </a:r>
            <a:endParaRPr lang="en-US" sz="1300" dirty="0"/>
          </a:p>
        </p:txBody>
      </p:sp>
      <p:sp>
        <p:nvSpPr>
          <p:cNvPr id="20" name="kartu-aturan validasi"/>
          <p:cNvSpPr/>
          <p:nvPr/>
        </p:nvSpPr>
        <p:spPr>
          <a:xfrm>
            <a:off x="6233008" y="2194560"/>
            <a:ext cx="2476424" cy="1901952"/>
          </a:xfrm>
          <a:prstGeom prst="rect">
            <a:avLst/>
          </a:prstGeom>
          <a:solidFill>
            <a:srgbClr val="E7F2EB"/>
          </a:solidFill>
          <a:ln w="12700">
            <a:solidFill>
              <a:srgbClr val="E7F2EB"/>
            </a:solidFill>
            <a:prstDash val="solid"/>
          </a:ln>
        </p:spPr>
      </p:sp>
      <p:sp>
        <p:nvSpPr>
          <p:cNvPr id="21" name="tanda-aturan validasi"/>
          <p:cNvSpPr/>
          <p:nvPr/>
        </p:nvSpPr>
        <p:spPr>
          <a:xfrm>
            <a:off x="6233008" y="2194560"/>
            <a:ext cx="2476424" cy="73152"/>
          </a:xfrm>
          <a:prstGeom prst="rect">
            <a:avLst/>
          </a:prstGeom>
          <a:solidFill>
            <a:srgbClr val="1E7A3C"/>
          </a:solidFill>
          <a:ln w="12700">
            <a:solidFill>
              <a:srgbClr val="1E7A3C"/>
            </a:solidFill>
            <a:prstDash val="solid"/>
          </a:ln>
        </p:spPr>
      </p:sp>
      <p:sp>
        <p:nvSpPr>
          <p:cNvPr id="22" name="bulatan-validasi"/>
          <p:cNvSpPr/>
          <p:nvPr/>
        </p:nvSpPr>
        <p:spPr>
          <a:xfrm>
            <a:off x="6507328" y="2450592"/>
            <a:ext cx="566928" cy="56692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23" name="Image 3" descr="/home/claude/deck/assets/icons/validas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398" y="2603663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507328" y="3054096"/>
            <a:ext cx="1927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1E7A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4000" dirty="0"/>
          </a:p>
        </p:txBody>
      </p:sp>
      <p:sp>
        <p:nvSpPr>
          <p:cNvPr id="25" name="Text 19"/>
          <p:cNvSpPr txBox="1"/>
          <p:nvPr/>
        </p:nvSpPr>
        <p:spPr>
          <a:xfrm>
            <a:off x="6507328" y="3675888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aturan validasi</a:t>
            </a:r>
            <a:endParaRPr lang="en-US" sz="1300" dirty="0"/>
          </a:p>
        </p:txBody>
      </p:sp>
      <p:sp>
        <p:nvSpPr>
          <p:cNvPr id="26" name="kartu-ha selisih 2023"/>
          <p:cNvSpPr/>
          <p:nvPr/>
        </p:nvSpPr>
        <p:spPr>
          <a:xfrm>
            <a:off x="8983751" y="2194560"/>
            <a:ext cx="2476424" cy="1901952"/>
          </a:xfrm>
          <a:prstGeom prst="rect">
            <a:avLst/>
          </a:prstGeom>
          <a:solidFill>
            <a:srgbClr val="FAE9E6"/>
          </a:solidFill>
          <a:ln w="12700">
            <a:solidFill>
              <a:srgbClr val="FAE9E6"/>
            </a:solidFill>
            <a:prstDash val="solid"/>
          </a:ln>
        </p:spPr>
      </p:sp>
      <p:sp>
        <p:nvSpPr>
          <p:cNvPr id="27" name="tanda-ha selisih 2023"/>
          <p:cNvSpPr/>
          <p:nvPr/>
        </p:nvSpPr>
        <p:spPr>
          <a:xfrm>
            <a:off x="8983751" y="2194560"/>
            <a:ext cx="2476424" cy="73152"/>
          </a:xfrm>
          <a:prstGeom prst="rect">
            <a:avLst/>
          </a:prstGeom>
          <a:solidFill>
            <a:srgbClr val="C2321C"/>
          </a:solidFill>
          <a:ln w="12700">
            <a:solidFill>
              <a:srgbClr val="C2321C"/>
            </a:solidFill>
            <a:prstDash val="solid"/>
          </a:ln>
        </p:spPr>
      </p:sp>
      <p:sp>
        <p:nvSpPr>
          <p:cNvPr id="28" name="bulatan-peringatan"/>
          <p:cNvSpPr/>
          <p:nvPr/>
        </p:nvSpPr>
        <p:spPr>
          <a:xfrm>
            <a:off x="9258071" y="2450592"/>
            <a:ext cx="566928" cy="56692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29" name="Image 4" descr="/home/claude/deck/assets/icons/peringat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1142" y="2603663"/>
            <a:ext cx="260787" cy="26078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258071" y="3054096"/>
            <a:ext cx="1927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C232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154.657</a:t>
            </a:r>
            <a:endParaRPr lang="en-US" sz="4000" dirty="0"/>
          </a:p>
        </p:txBody>
      </p:sp>
      <p:sp>
        <p:nvSpPr>
          <p:cNvPr id="31" name="Text 24"/>
          <p:cNvSpPr txBox="1"/>
          <p:nvPr/>
        </p:nvSpPr>
        <p:spPr>
          <a:xfrm>
            <a:off x="9258071" y="3675888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ha selisih 2023</a:t>
            </a:r>
            <a:endParaRPr lang="en-US" sz="1300" dirty="0"/>
          </a:p>
        </p:txBody>
      </p:sp>
      <p:sp>
        <p:nvSpPr>
          <p:cNvPr id="32" name="garis"/>
          <p:cNvSpPr/>
          <p:nvPr/>
        </p:nvSpPr>
        <p:spPr>
          <a:xfrm>
            <a:off x="731520" y="4645152"/>
            <a:ext cx="10728655" cy="12802"/>
          </a:xfrm>
          <a:prstGeom prst="rect">
            <a:avLst/>
          </a:prstGeom>
          <a:solidFill>
            <a:srgbClr val="E2E5DE"/>
          </a:solidFill>
          <a:ln w="12700">
            <a:solidFill>
              <a:srgbClr val="E2E5DE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31520" y="4846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HAL YANG DIBAWA KE MEJA ASESOR</a:t>
            </a:r>
            <a:endParaRPr lang="en-US" sz="950" dirty="0"/>
          </a:p>
        </p:txBody>
      </p:sp>
      <p:sp>
        <p:nvSpPr>
          <p:cNvPr id="34" name="bulatan-objek"/>
          <p:cNvSpPr/>
          <p:nvPr/>
        </p:nvSpPr>
        <p:spPr>
          <a:xfrm>
            <a:off x="731520" y="5230368"/>
            <a:ext cx="512064" cy="512064"/>
          </a:xfrm>
          <a:prstGeom prst="ellipse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pic>
        <p:nvPicPr>
          <p:cNvPr id="35" name="Image 5" descr="/home/claude/deck/assets/icons/obje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777" y="5368625"/>
            <a:ext cx="235549" cy="235549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389888" y="5212080"/>
            <a:ext cx="452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1D"/>
                </a:solidFill>
              </a:rPr>
              <a:t>Granularitas ditentukan lebih dulu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1389888" y="5522976"/>
            <a:ext cx="452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Baris Total dipisahkan ke jalur audit — bukan dibuang.</a:t>
            </a:r>
            <a:endParaRPr lang="en-US" sz="1200" dirty="0"/>
          </a:p>
        </p:txBody>
      </p:sp>
      <p:sp>
        <p:nvSpPr>
          <p:cNvPr id="38" name="bulatan-peringatan"/>
          <p:cNvSpPr/>
          <p:nvPr/>
        </p:nvSpPr>
        <p:spPr>
          <a:xfrm>
            <a:off x="6278728" y="5230368"/>
            <a:ext cx="512064" cy="512064"/>
          </a:xfrm>
          <a:prstGeom prst="ellipse">
            <a:avLst/>
          </a:prstGeom>
          <a:solidFill>
            <a:srgbClr val="FAE9E6"/>
          </a:solidFill>
          <a:ln w="12700">
            <a:solidFill>
              <a:srgbClr val="FAE9E6"/>
            </a:solidFill>
            <a:prstDash val="solid"/>
          </a:ln>
        </p:spPr>
      </p:sp>
      <p:pic>
        <p:nvPicPr>
          <p:cNvPr id="39" name="Image 6" descr="/home/claude/deck/assets/icons/peringat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6985" y="5368625"/>
            <a:ext cx="235549" cy="235549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937096" y="5212080"/>
            <a:ext cx="452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1D"/>
                </a:solidFill>
              </a:rPr>
              <a:t>Validasi menemukan masalah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6937096" y="5522976"/>
            <a:ext cx="452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Selisih 13,3% dilaporkan, tidak dipaksa cocok.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pPr algn="l" indent="0" marL="0">
              <a:buNone/>
            </a:pPr>
            <a:r>
              <a:rPr lang="en-US" sz="1000" b="1" spc="25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PETA BUKTI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694944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01D"/>
                </a:solidFill>
              </a:rPr>
              <a:t>Delapan unit, delapan artefak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54480"/>
            <a:ext cx="97228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5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unit dibuktikan artefak yang berdiri sendiri.</a:t>
            </a:r>
            <a:endParaRPr lang="en-US" sz="1350" dirty="0"/>
          </a:p>
        </p:txBody>
      </p:sp>
      <p:sp>
        <p:nvSpPr>
          <p:cNvPr id="5" name="garis"/>
          <p:cNvSpPr/>
          <p:nvPr/>
        </p:nvSpPr>
        <p:spPr>
          <a:xfrm>
            <a:off x="731520" y="1883664"/>
            <a:ext cx="10728655" cy="25603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bulatan-kebutuhan"/>
          <p:cNvSpPr/>
          <p:nvPr/>
        </p:nvSpPr>
        <p:spPr>
          <a:xfrm>
            <a:off x="10710367" y="694944"/>
            <a:ext cx="749808" cy="749808"/>
          </a:xfrm>
          <a:prstGeom prst="ellipse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pic>
        <p:nvPicPr>
          <p:cNvPr id="7" name="Image 0" descr="/home/claude/deck/assets/icons/kebutuh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815" y="897392"/>
            <a:ext cx="344912" cy="344912"/>
          </a:xfrm>
          <a:prstGeom prst="rect">
            <a:avLst/>
          </a:prstGeom>
        </p:spPr>
      </p:pic>
      <p:sp>
        <p:nvSpPr>
          <p:cNvPr id="8" name="unit-01"/>
          <p:cNvSpPr/>
          <p:nvPr/>
        </p:nvSpPr>
        <p:spPr>
          <a:xfrm>
            <a:off x="731520" y="2304288"/>
            <a:ext cx="2462708" cy="1755648"/>
          </a:xfrm>
          <a:prstGeom prst="rect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sp>
        <p:nvSpPr>
          <p:cNvPr id="9" name="bulatan-kebutuhan"/>
          <p:cNvSpPr/>
          <p:nvPr/>
        </p:nvSpPr>
        <p:spPr>
          <a:xfrm>
            <a:off x="987552" y="2542032"/>
            <a:ext cx="548640" cy="54864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10" name="Image 1" descr="/home/claude/deck/assets/icons/kebutuh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5" y="2690165"/>
            <a:ext cx="252374" cy="25237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426132" y="25420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987552" y="3255264"/>
            <a:ext cx="19506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01D"/>
                </a:solidFill>
              </a:rPr>
              <a:t>Kebutuhan data</a:t>
            </a:r>
            <a:endParaRPr lang="en-US" sz="1500" dirty="0"/>
          </a:p>
        </p:txBody>
      </p:sp>
      <p:sp>
        <p:nvSpPr>
          <p:cNvPr id="13" name="unit-02"/>
          <p:cNvSpPr/>
          <p:nvPr/>
        </p:nvSpPr>
        <p:spPr>
          <a:xfrm>
            <a:off x="3486836" y="2304288"/>
            <a:ext cx="2462708" cy="1755648"/>
          </a:xfrm>
          <a:prstGeom prst="rect">
            <a:avLst/>
          </a:prstGeom>
          <a:solidFill>
            <a:srgbClr val="EDEBFC"/>
          </a:solidFill>
          <a:ln w="12700">
            <a:solidFill>
              <a:srgbClr val="EDEBFC"/>
            </a:solidFill>
            <a:prstDash val="solid"/>
          </a:ln>
        </p:spPr>
      </p:sp>
      <p:sp>
        <p:nvSpPr>
          <p:cNvPr id="14" name="bulatan-integrasi"/>
          <p:cNvSpPr/>
          <p:nvPr/>
        </p:nvSpPr>
        <p:spPr>
          <a:xfrm>
            <a:off x="3742868" y="2542032"/>
            <a:ext cx="548640" cy="54864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15" name="Image 2" descr="/home/claude/deck/assets/icons/integras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001" y="2690165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81448" y="25420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250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3742868" y="3255264"/>
            <a:ext cx="19506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01D"/>
                </a:solidFill>
              </a:rPr>
              <a:t>Integrasi data</a:t>
            </a:r>
            <a:endParaRPr lang="en-US" sz="1500" dirty="0"/>
          </a:p>
        </p:txBody>
      </p:sp>
      <p:sp>
        <p:nvSpPr>
          <p:cNvPr id="18" name="unit-03"/>
          <p:cNvSpPr/>
          <p:nvPr/>
        </p:nvSpPr>
        <p:spPr>
          <a:xfrm>
            <a:off x="6242152" y="2304288"/>
            <a:ext cx="2462708" cy="1755648"/>
          </a:xfrm>
          <a:prstGeom prst="rect">
            <a:avLst/>
          </a:prstGeom>
          <a:solidFill>
            <a:srgbClr val="E4F3EE"/>
          </a:solidFill>
          <a:ln w="12700">
            <a:solidFill>
              <a:srgbClr val="E4F3EE"/>
            </a:solidFill>
            <a:prstDash val="solid"/>
          </a:ln>
        </p:spPr>
      </p:sp>
      <p:sp>
        <p:nvSpPr>
          <p:cNvPr id="19" name="bulatan-kumpul"/>
          <p:cNvSpPr/>
          <p:nvPr/>
        </p:nvSpPr>
        <p:spPr>
          <a:xfrm>
            <a:off x="6498184" y="2542032"/>
            <a:ext cx="548640" cy="54864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20" name="Image 3" descr="/home/claude/deck/assets/icons/kumpu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316" y="2690165"/>
            <a:ext cx="252374" cy="25237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936763" y="25420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8A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6498184" y="3255264"/>
            <a:ext cx="19506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01D"/>
                </a:solidFill>
              </a:rPr>
              <a:t>Mengumpulkan</a:t>
            </a:r>
            <a:endParaRPr lang="en-US" sz="1500" dirty="0"/>
          </a:p>
        </p:txBody>
      </p:sp>
      <p:sp>
        <p:nvSpPr>
          <p:cNvPr id="23" name="unit-04"/>
          <p:cNvSpPr/>
          <p:nvPr/>
        </p:nvSpPr>
        <p:spPr>
          <a:xfrm>
            <a:off x="8997467" y="2304288"/>
            <a:ext cx="2462708" cy="1755648"/>
          </a:xfrm>
          <a:prstGeom prst="rect">
            <a:avLst/>
          </a:prstGeom>
          <a:solidFill>
            <a:srgbClr val="FDEDE6"/>
          </a:solidFill>
          <a:ln w="12700">
            <a:solidFill>
              <a:srgbClr val="FDEDE6"/>
            </a:solidFill>
            <a:prstDash val="solid"/>
          </a:ln>
        </p:spPr>
      </p:sp>
      <p:sp>
        <p:nvSpPr>
          <p:cNvPr id="24" name="bulatan-telaah"/>
          <p:cNvSpPr/>
          <p:nvPr/>
        </p:nvSpPr>
        <p:spPr>
          <a:xfrm>
            <a:off x="9253499" y="2542032"/>
            <a:ext cx="548640" cy="54864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25" name="Image 4" descr="/home/claude/deck/assets/icons/telaa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1632" y="2690165"/>
            <a:ext cx="252374" cy="25237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692079" y="25420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9253499" y="3255264"/>
            <a:ext cx="19506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01D"/>
                </a:solidFill>
              </a:rPr>
              <a:t>Menelaah</a:t>
            </a:r>
            <a:endParaRPr lang="en-US" sz="1500" dirty="0"/>
          </a:p>
        </p:txBody>
      </p:sp>
      <p:sp>
        <p:nvSpPr>
          <p:cNvPr id="28" name="unit-05"/>
          <p:cNvSpPr/>
          <p:nvPr/>
        </p:nvSpPr>
        <p:spPr>
          <a:xfrm>
            <a:off x="731520" y="4370832"/>
            <a:ext cx="2462708" cy="1755648"/>
          </a:xfrm>
          <a:prstGeom prst="rect">
            <a:avLst/>
          </a:prstGeom>
          <a:solidFill>
            <a:srgbClr val="E7F2EB"/>
          </a:solidFill>
          <a:ln w="12700">
            <a:solidFill>
              <a:srgbClr val="E7F2EB"/>
            </a:solidFill>
            <a:prstDash val="solid"/>
          </a:ln>
        </p:spPr>
      </p:sp>
      <p:sp>
        <p:nvSpPr>
          <p:cNvPr id="29" name="bulatan-validasi"/>
          <p:cNvSpPr/>
          <p:nvPr/>
        </p:nvSpPr>
        <p:spPr>
          <a:xfrm>
            <a:off x="987552" y="4608576"/>
            <a:ext cx="548640" cy="54864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30" name="Image 5" descr="/home/claude/deck/assets/icons/validas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685" y="4756709"/>
            <a:ext cx="252374" cy="25237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426132" y="460857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7A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24"/>
          <p:cNvSpPr txBox="1"/>
          <p:nvPr/>
        </p:nvSpPr>
        <p:spPr>
          <a:xfrm>
            <a:off x="987552" y="5321808"/>
            <a:ext cx="19506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01D"/>
                </a:solidFill>
              </a:rPr>
              <a:t>Memvalidasi</a:t>
            </a:r>
            <a:endParaRPr lang="en-US" sz="1500" dirty="0"/>
          </a:p>
        </p:txBody>
      </p:sp>
      <p:sp>
        <p:nvSpPr>
          <p:cNvPr id="33" name="unit-06"/>
          <p:cNvSpPr/>
          <p:nvPr/>
        </p:nvSpPr>
        <p:spPr>
          <a:xfrm>
            <a:off x="3486836" y="4370832"/>
            <a:ext cx="2462708" cy="1755648"/>
          </a:xfrm>
          <a:prstGeom prst="rect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sp>
        <p:nvSpPr>
          <p:cNvPr id="34" name="bulatan-objek"/>
          <p:cNvSpPr/>
          <p:nvPr/>
        </p:nvSpPr>
        <p:spPr>
          <a:xfrm>
            <a:off x="3742868" y="4608576"/>
            <a:ext cx="548640" cy="54864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35" name="Image 6" descr="/home/claude/deck/assets/icons/obje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1001" y="4756709"/>
            <a:ext cx="252374" cy="25237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181448" y="460857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2200" dirty="0"/>
          </a:p>
        </p:txBody>
      </p:sp>
      <p:sp>
        <p:nvSpPr>
          <p:cNvPr id="37" name="Text 28"/>
          <p:cNvSpPr txBox="1"/>
          <p:nvPr/>
        </p:nvSpPr>
        <p:spPr>
          <a:xfrm>
            <a:off x="3742868" y="5321808"/>
            <a:ext cx="19506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01D"/>
                </a:solidFill>
              </a:rPr>
              <a:t>Objek data</a:t>
            </a:r>
            <a:endParaRPr lang="en-US" sz="1500" dirty="0"/>
          </a:p>
        </p:txBody>
      </p:sp>
      <p:sp>
        <p:nvSpPr>
          <p:cNvPr id="38" name="unit-07"/>
          <p:cNvSpPr/>
          <p:nvPr/>
        </p:nvSpPr>
        <p:spPr>
          <a:xfrm>
            <a:off x="6242152" y="4370832"/>
            <a:ext cx="2462708" cy="1755648"/>
          </a:xfrm>
          <a:prstGeom prst="rect">
            <a:avLst/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39" name="bulatan-bersih"/>
          <p:cNvSpPr/>
          <p:nvPr/>
        </p:nvSpPr>
        <p:spPr>
          <a:xfrm>
            <a:off x="6498184" y="4608576"/>
            <a:ext cx="548640" cy="54864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40" name="Image 7" descr="/home/claude/deck/assets/icons/bersi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6316" y="4756709"/>
            <a:ext cx="252374" cy="252374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936763" y="460857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85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07</a:t>
            </a:r>
            <a:endParaRPr lang="en-US" sz="2200" dirty="0"/>
          </a:p>
        </p:txBody>
      </p:sp>
      <p:sp>
        <p:nvSpPr>
          <p:cNvPr id="42" name="Text 32"/>
          <p:cNvSpPr txBox="1"/>
          <p:nvPr/>
        </p:nvSpPr>
        <p:spPr>
          <a:xfrm>
            <a:off x="6498184" y="5321808"/>
            <a:ext cx="19506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01D"/>
                </a:solidFill>
              </a:rPr>
              <a:t>Membersihkan</a:t>
            </a:r>
            <a:endParaRPr lang="en-US" sz="1500" dirty="0"/>
          </a:p>
        </p:txBody>
      </p:sp>
      <p:sp>
        <p:nvSpPr>
          <p:cNvPr id="43" name="unit-08"/>
          <p:cNvSpPr/>
          <p:nvPr/>
        </p:nvSpPr>
        <p:spPr>
          <a:xfrm>
            <a:off x="8997467" y="4370832"/>
            <a:ext cx="2462708" cy="1755648"/>
          </a:xfrm>
          <a:prstGeom prst="rect">
            <a:avLst/>
          </a:prstGeom>
          <a:solidFill>
            <a:srgbClr val="EDEBFC"/>
          </a:solidFill>
          <a:ln w="12700">
            <a:solidFill>
              <a:srgbClr val="EDEBFC"/>
            </a:solidFill>
            <a:prstDash val="solid"/>
          </a:ln>
        </p:spPr>
      </p:sp>
      <p:sp>
        <p:nvSpPr>
          <p:cNvPr id="44" name="bulatan-bi"/>
          <p:cNvSpPr/>
          <p:nvPr/>
        </p:nvSpPr>
        <p:spPr>
          <a:xfrm>
            <a:off x="9253499" y="4608576"/>
            <a:ext cx="548640" cy="54864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45" name="Image 8" descr="/home/claude/deck/assets/icons/bi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1632" y="4756709"/>
            <a:ext cx="252374" cy="252374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0692079" y="460857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250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08</a:t>
            </a:r>
            <a:endParaRPr lang="en-US" sz="2200" dirty="0"/>
          </a:p>
        </p:txBody>
      </p:sp>
      <p:sp>
        <p:nvSpPr>
          <p:cNvPr id="47" name="Text 36"/>
          <p:cNvSpPr txBox="1"/>
          <p:nvPr/>
        </p:nvSpPr>
        <p:spPr>
          <a:xfrm>
            <a:off x="9253499" y="5321808"/>
            <a:ext cx="19506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01D"/>
                </a:solidFill>
              </a:rPr>
              <a:t>Business intelligence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tar-pembat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1887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FFFFF">
                    <a:alpha val="28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4000" dirty="0"/>
          </a:p>
        </p:txBody>
      </p:sp>
      <p:sp>
        <p:nvSpPr>
          <p:cNvPr id="4" name="bulatan-kebutuhan"/>
          <p:cNvSpPr/>
          <p:nvPr/>
        </p:nvSpPr>
        <p:spPr>
          <a:xfrm>
            <a:off x="9722815" y="1371600"/>
            <a:ext cx="1737360" cy="1737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deck/assets/icons/kebutuh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8303" y="1847088"/>
            <a:ext cx="786384" cy="7863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SATU  ·  UNIT 1 DAN 2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840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80" kern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Kebutuhan dan perencanaan data</a:t>
            </a:r>
            <a:endParaRPr lang="en-US" sz="3800" dirty="0"/>
          </a:p>
        </p:txBody>
      </p:sp>
      <p:sp>
        <p:nvSpPr>
          <p:cNvPr id="8" name="garis-pembatas"/>
          <p:cNvSpPr/>
          <p:nvPr/>
        </p:nvSpPr>
        <p:spPr>
          <a:xfrm>
            <a:off x="731520" y="4901184"/>
            <a:ext cx="402336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138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Dari proses bisnis penganggaran, menjadi rancangan integrasi yang dapat dijalankan ulang.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pPr algn="l" indent="0" marL="0">
              <a:buNone/>
            </a:pPr>
            <a:r>
              <a:rPr lang="en-US" sz="1000" b="1" spc="25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STUDI KASUS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694944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01D"/>
                </a:solidFill>
              </a:rPr>
              <a:t>Anggaran dibagi tanpa dasar kuantitatif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54480"/>
            <a:ext cx="97228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5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yang tersedia, dan lima pertanyaan yang harus terjawab.</a:t>
            </a:r>
            <a:endParaRPr lang="en-US" sz="1350" dirty="0"/>
          </a:p>
        </p:txBody>
      </p:sp>
      <p:sp>
        <p:nvSpPr>
          <p:cNvPr id="5" name="garis"/>
          <p:cNvSpPr/>
          <p:nvPr/>
        </p:nvSpPr>
        <p:spPr>
          <a:xfrm>
            <a:off x="731520" y="1883664"/>
            <a:ext cx="10728655" cy="25603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bulatan-excel"/>
          <p:cNvSpPr/>
          <p:nvPr/>
        </p:nvSpPr>
        <p:spPr>
          <a:xfrm>
            <a:off x="10710367" y="694944"/>
            <a:ext cx="749808" cy="749808"/>
          </a:xfrm>
          <a:prstGeom prst="ellipse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pic>
        <p:nvPicPr>
          <p:cNvPr id="7" name="Image 0" descr="/home/claude/deck/assets/icons/ex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815" y="897392"/>
            <a:ext cx="344912" cy="344912"/>
          </a:xfrm>
          <a:prstGeom prst="rect">
            <a:avLst/>
          </a:prstGeom>
        </p:spPr>
      </p:pic>
      <p:sp>
        <p:nvSpPr>
          <p:cNvPr id="8" name="fakta-0"/>
          <p:cNvSpPr/>
          <p:nvPr/>
        </p:nvSpPr>
        <p:spPr>
          <a:xfrm>
            <a:off x="731520" y="2267712"/>
            <a:ext cx="2407844" cy="1152144"/>
          </a:xfrm>
          <a:prstGeom prst="rect">
            <a:avLst/>
          </a:prstGeom>
          <a:solidFill>
            <a:srgbClr val="E4F3EE"/>
          </a:solidFill>
          <a:ln w="12700">
            <a:solidFill>
              <a:srgbClr val="E4F3EE"/>
            </a:solidFill>
            <a:prstDash val="solid"/>
          </a:ln>
        </p:spPr>
      </p:sp>
      <p:sp>
        <p:nvSpPr>
          <p:cNvPr id="9" name="bulatan-excel"/>
          <p:cNvSpPr/>
          <p:nvPr/>
        </p:nvSpPr>
        <p:spPr>
          <a:xfrm>
            <a:off x="969264" y="2487168"/>
            <a:ext cx="457200" cy="45720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10" name="Image 1" descr="/home/claude/deck/assets/icons/exc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2610612"/>
            <a:ext cx="210312" cy="2103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36192" y="2450592"/>
            <a:ext cx="14020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8A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515 × 11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969264" y="2962656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01D"/>
                </a:solidFill>
              </a:rPr>
              <a:t>baris × kolom</a:t>
            </a:r>
            <a:endParaRPr lang="en-US" sz="1250" dirty="0"/>
          </a:p>
        </p:txBody>
      </p:sp>
      <p:sp>
        <p:nvSpPr>
          <p:cNvPr id="13" name="fakta-1"/>
          <p:cNvSpPr/>
          <p:nvPr/>
        </p:nvSpPr>
        <p:spPr>
          <a:xfrm>
            <a:off x="3413684" y="2267712"/>
            <a:ext cx="2407844" cy="1152144"/>
          </a:xfrm>
          <a:prstGeom prst="rect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sp>
        <p:nvSpPr>
          <p:cNvPr id="14" name="bulatan-kalender"/>
          <p:cNvSpPr/>
          <p:nvPr/>
        </p:nvSpPr>
        <p:spPr>
          <a:xfrm>
            <a:off x="3651428" y="2487168"/>
            <a:ext cx="457200" cy="45720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15" name="Image 2" descr="/home/claude/deck/assets/icons/kalen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872" y="2610612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218356" y="2450592"/>
            <a:ext cx="14020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78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 tahun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3651428" y="2962656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01D"/>
                </a:solidFill>
              </a:rPr>
              <a:t>2018 sampai 2026</a:t>
            </a:r>
            <a:endParaRPr lang="en-US" sz="1250" dirty="0"/>
          </a:p>
        </p:txBody>
      </p:sp>
      <p:sp>
        <p:nvSpPr>
          <p:cNvPr id="18" name="fakta-2"/>
          <p:cNvSpPr/>
          <p:nvPr/>
        </p:nvSpPr>
        <p:spPr>
          <a:xfrm>
            <a:off x="731520" y="3639312"/>
            <a:ext cx="2407844" cy="1152144"/>
          </a:xfrm>
          <a:prstGeom prst="rect">
            <a:avLst/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19" name="bulatan-ukur"/>
          <p:cNvSpPr/>
          <p:nvPr/>
        </p:nvSpPr>
        <p:spPr>
          <a:xfrm>
            <a:off x="969264" y="3858768"/>
            <a:ext cx="457200" cy="45720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20" name="Image 3" descr="/home/claude/deck/assets/icons/uku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" y="3982212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36192" y="3822192"/>
            <a:ext cx="14020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85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Hektare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69264" y="4334256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01D"/>
                </a:solidFill>
              </a:rPr>
              <a:t>satuan luas</a:t>
            </a:r>
            <a:endParaRPr lang="en-US" sz="1250" dirty="0"/>
          </a:p>
        </p:txBody>
      </p:sp>
      <p:sp>
        <p:nvSpPr>
          <p:cNvPr id="23" name="fakta-3"/>
          <p:cNvSpPr/>
          <p:nvPr/>
        </p:nvSpPr>
        <p:spPr>
          <a:xfrm>
            <a:off x="3413684" y="3639312"/>
            <a:ext cx="2407844" cy="1152144"/>
          </a:xfrm>
          <a:prstGeom prst="rect">
            <a:avLst/>
          </a:prstGeom>
          <a:solidFill>
            <a:srgbClr val="FAE9E6"/>
          </a:solidFill>
          <a:ln w="12700">
            <a:solidFill>
              <a:srgbClr val="FAE9E6"/>
            </a:solidFill>
            <a:prstDash val="solid"/>
          </a:ln>
        </p:spPr>
      </p:sp>
      <p:sp>
        <p:nvSpPr>
          <p:cNvPr id="24" name="bulatan-peringatan"/>
          <p:cNvSpPr/>
          <p:nvPr/>
        </p:nvSpPr>
        <p:spPr>
          <a:xfrm>
            <a:off x="3651428" y="3858768"/>
            <a:ext cx="457200" cy="45720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25" name="Image 4" descr="/home/claude/deck/assets/icons/peringat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4872" y="3982212"/>
            <a:ext cx="210312" cy="21031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218356" y="3822192"/>
            <a:ext cx="14020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232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Teks</a:t>
            </a:r>
            <a:endParaRPr lang="en-US" sz="2100" dirty="0"/>
          </a:p>
        </p:txBody>
      </p:sp>
      <p:sp>
        <p:nvSpPr>
          <p:cNvPr id="27" name="Text 20"/>
          <p:cNvSpPr txBox="1"/>
          <p:nvPr/>
        </p:nvSpPr>
        <p:spPr>
          <a:xfrm>
            <a:off x="3651428" y="4334256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01D"/>
                </a:solidFill>
              </a:rPr>
              <a:t>tipe asli semua kolom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731520" y="5047488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5706A"/>
                </a:solidFill>
              </a:rPr>
              <a:t>luas-karhutla-kota.xlsx  ·  sheet tunggal  ·  format angka lokal 1.091,18</a:t>
            </a:r>
            <a:endParaRPr lang="en-US" sz="1150" dirty="0"/>
          </a:p>
        </p:txBody>
      </p:sp>
      <p:sp>
        <p:nvSpPr>
          <p:cNvPr id="29" name="garis-tegak"/>
          <p:cNvSpPr/>
          <p:nvPr/>
        </p:nvSpPr>
        <p:spPr>
          <a:xfrm>
            <a:off x="6141568" y="2267712"/>
            <a:ext cx="12802" cy="3200400"/>
          </a:xfrm>
          <a:prstGeom prst="rect">
            <a:avLst/>
          </a:prstGeom>
          <a:solidFill>
            <a:srgbClr val="E2E5DE"/>
          </a:solidFill>
          <a:ln w="12700">
            <a:solidFill>
              <a:srgbClr val="E2E5DE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507328" y="226771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1F5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PERTANYAAN BISNIS</a:t>
            </a:r>
            <a:endParaRPr lang="en-US" sz="950" dirty="0"/>
          </a:p>
        </p:txBody>
      </p:sp>
      <p:sp>
        <p:nvSpPr>
          <p:cNvPr id="31" name="no-tanya"/>
          <p:cNvSpPr/>
          <p:nvPr/>
        </p:nvSpPr>
        <p:spPr>
          <a:xfrm>
            <a:off x="6507328" y="2743200"/>
            <a:ext cx="310896" cy="310896"/>
          </a:xfrm>
          <a:prstGeom prst="ellipse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507328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6937096" y="270662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Berapa total luas nasional tiap tahun?</a:t>
            </a:r>
            <a:endParaRPr lang="en-US" sz="1300" dirty="0"/>
          </a:p>
        </p:txBody>
      </p:sp>
      <p:sp>
        <p:nvSpPr>
          <p:cNvPr id="34" name="no-tanya"/>
          <p:cNvSpPr/>
          <p:nvPr/>
        </p:nvSpPr>
        <p:spPr>
          <a:xfrm>
            <a:off x="6507328" y="3291840"/>
            <a:ext cx="310896" cy="310896"/>
          </a:xfrm>
          <a:prstGeom prst="ellipse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6507328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6937096" y="325526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Daerah mana terbesar, seberapa terkonsentrasi?</a:t>
            </a:r>
            <a:endParaRPr lang="en-US" sz="1300" dirty="0"/>
          </a:p>
        </p:txBody>
      </p:sp>
      <p:sp>
        <p:nvSpPr>
          <p:cNvPr id="37" name="no-tanya"/>
          <p:cNvSpPr/>
          <p:nvPr/>
        </p:nvSpPr>
        <p:spPr>
          <a:xfrm>
            <a:off x="6507328" y="3840480"/>
            <a:ext cx="310896" cy="310896"/>
          </a:xfrm>
          <a:prstGeom prst="ellipse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6507328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6937096" y="380390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Berapa daerah terdampak, apakah bertambah?</a:t>
            </a:r>
            <a:endParaRPr lang="en-US" sz="1300" dirty="0"/>
          </a:p>
        </p:txBody>
      </p:sp>
      <p:sp>
        <p:nvSpPr>
          <p:cNvPr id="40" name="no-tanya"/>
          <p:cNvSpPr/>
          <p:nvPr/>
        </p:nvSpPr>
        <p:spPr>
          <a:xfrm>
            <a:off x="6507328" y="4389120"/>
            <a:ext cx="310896" cy="310896"/>
          </a:xfrm>
          <a:prstGeom prst="ellipse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6507328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6937096" y="43525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Daerah mana yang terbakar berulang?</a:t>
            </a:r>
            <a:endParaRPr lang="en-US" sz="1300" dirty="0"/>
          </a:p>
        </p:txBody>
      </p:sp>
      <p:sp>
        <p:nvSpPr>
          <p:cNvPr id="43" name="no-tanya"/>
          <p:cNvSpPr/>
          <p:nvPr/>
        </p:nvSpPr>
        <p:spPr>
          <a:xfrm>
            <a:off x="6507328" y="4937760"/>
            <a:ext cx="310896" cy="310896"/>
          </a:xfrm>
          <a:prstGeom prst="ellipse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6507328" y="4937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6937096" y="49011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Apakah angka resminya konsisten?</a:t>
            </a:r>
            <a:endParaRPr lang="en-US" sz="1300" dirty="0"/>
          </a:p>
        </p:txBody>
      </p:sp>
      <p:sp>
        <p:nvSpPr>
          <p:cNvPr id="46" name="garis"/>
          <p:cNvSpPr/>
          <p:nvPr/>
        </p:nvSpPr>
        <p:spPr>
          <a:xfrm>
            <a:off x="731520" y="5907024"/>
            <a:ext cx="10728655" cy="12802"/>
          </a:xfrm>
          <a:prstGeom prst="rect">
            <a:avLst/>
          </a:prstGeom>
          <a:solidFill>
            <a:srgbClr val="E2E5DE"/>
          </a:solidFill>
          <a:ln w="12700">
            <a:solidFill>
              <a:srgbClr val="E2E5DE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731520" y="6053328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5706A"/>
                </a:solidFill>
              </a:rPr>
              <a:t>Batasan — 2026 masih tahun berjalan; nilai 0 bisa berarti nihil kejadian atau tidak dilaporkan.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08</a:t>
            </a:r>
            <a:pPr algn="l" indent="0" marL="0">
              <a:buNone/>
            </a:pPr>
            <a:r>
              <a:rPr lang="en-US" sz="1000" b="1" spc="25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J.62DMS00.001.1  ·  MENGIDENTIFIKASI KEBUTUHAN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694944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01D"/>
                </a:solidFill>
              </a:rPr>
              <a:t>Tujuh kebutuhan, diturunkan dari keputusan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54480"/>
            <a:ext cx="97228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5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pemangku kepentingan, tiga titik keputusan tahunan.</a:t>
            </a:r>
            <a:endParaRPr lang="en-US" sz="1350" dirty="0"/>
          </a:p>
        </p:txBody>
      </p:sp>
      <p:sp>
        <p:nvSpPr>
          <p:cNvPr id="5" name="garis"/>
          <p:cNvSpPr/>
          <p:nvPr/>
        </p:nvSpPr>
        <p:spPr>
          <a:xfrm>
            <a:off x="731520" y="1883664"/>
            <a:ext cx="10728655" cy="25603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bulatan-kebutuhan"/>
          <p:cNvSpPr/>
          <p:nvPr/>
        </p:nvSpPr>
        <p:spPr>
          <a:xfrm>
            <a:off x="10710367" y="694944"/>
            <a:ext cx="749808" cy="749808"/>
          </a:xfrm>
          <a:prstGeom prst="ellipse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pic>
        <p:nvPicPr>
          <p:cNvPr id="7" name="Image 0" descr="/home/claude/deck/assets/icons/kebutuh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815" y="897392"/>
            <a:ext cx="344912" cy="344912"/>
          </a:xfrm>
          <a:prstGeom prst="rect">
            <a:avLst/>
          </a:prstGeom>
        </p:spPr>
      </p:pic>
      <p:sp>
        <p:nvSpPr>
          <p:cNvPr id="8" name="kb-KB-01"/>
          <p:cNvSpPr/>
          <p:nvPr/>
        </p:nvSpPr>
        <p:spPr>
          <a:xfrm>
            <a:off x="731520" y="2340864"/>
            <a:ext cx="2476424" cy="1207008"/>
          </a:xfrm>
          <a:prstGeom prst="rect">
            <a:avLst/>
          </a:prstGeom>
          <a:solidFill>
            <a:srgbClr val="FAE9E6"/>
          </a:solidFill>
          <a:ln w="12700">
            <a:solidFill>
              <a:srgbClr val="FAE9E6"/>
            </a:solidFill>
            <a:prstDash val="solid"/>
          </a:ln>
        </p:spPr>
      </p:sp>
      <p:sp>
        <p:nvSpPr>
          <p:cNvPr id="9" name="tandakb-KB-01"/>
          <p:cNvSpPr/>
          <p:nvPr/>
        </p:nvSpPr>
        <p:spPr>
          <a:xfrm>
            <a:off x="731520" y="2340864"/>
            <a:ext cx="64008" cy="1207008"/>
          </a:xfrm>
          <a:prstGeom prst="rect">
            <a:avLst/>
          </a:prstGeom>
          <a:solidFill>
            <a:srgbClr val="C2321C"/>
          </a:solidFill>
          <a:ln w="12700">
            <a:solidFill>
              <a:srgbClr val="C2321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9264" y="2505456"/>
            <a:ext cx="201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KB-01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969264" y="2798064"/>
            <a:ext cx="2019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01D"/>
                </a:solidFill>
              </a:rPr>
              <a:t>Tabel fakta kabupaten × tahun</a:t>
            </a:r>
            <a:endParaRPr lang="en-US" sz="1400" dirty="0"/>
          </a:p>
        </p:txBody>
      </p:sp>
      <p:sp>
        <p:nvSpPr>
          <p:cNvPr id="12" name="kb-KB-02"/>
          <p:cNvSpPr/>
          <p:nvPr/>
        </p:nvSpPr>
        <p:spPr>
          <a:xfrm>
            <a:off x="3482264" y="2340864"/>
            <a:ext cx="2476424" cy="1207008"/>
          </a:xfrm>
          <a:prstGeom prst="rect">
            <a:avLst/>
          </a:prstGeom>
          <a:solidFill>
            <a:srgbClr val="FAE9E6"/>
          </a:solidFill>
          <a:ln w="12700">
            <a:solidFill>
              <a:srgbClr val="FAE9E6"/>
            </a:solidFill>
            <a:prstDash val="solid"/>
          </a:ln>
        </p:spPr>
      </p:sp>
      <p:sp>
        <p:nvSpPr>
          <p:cNvPr id="13" name="tandakb-KB-02"/>
          <p:cNvSpPr/>
          <p:nvPr/>
        </p:nvSpPr>
        <p:spPr>
          <a:xfrm>
            <a:off x="3482264" y="2340864"/>
            <a:ext cx="64008" cy="1207008"/>
          </a:xfrm>
          <a:prstGeom prst="rect">
            <a:avLst/>
          </a:prstGeom>
          <a:solidFill>
            <a:srgbClr val="C2321C"/>
          </a:solidFill>
          <a:ln w="12700">
            <a:solidFill>
              <a:srgbClr val="C2321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720008" y="2505456"/>
            <a:ext cx="201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KB-02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3720008" y="2798064"/>
            <a:ext cx="2019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01D"/>
                </a:solidFill>
              </a:rPr>
              <a:t>Kode wilayah sebagai kunci</a:t>
            </a:r>
            <a:endParaRPr lang="en-US" sz="1400" dirty="0"/>
          </a:p>
        </p:txBody>
      </p:sp>
      <p:sp>
        <p:nvSpPr>
          <p:cNvPr id="16" name="kb-KB-03"/>
          <p:cNvSpPr/>
          <p:nvPr/>
        </p:nvSpPr>
        <p:spPr>
          <a:xfrm>
            <a:off x="6233008" y="2340864"/>
            <a:ext cx="2476424" cy="1207008"/>
          </a:xfrm>
          <a:prstGeom prst="rect">
            <a:avLst/>
          </a:prstGeom>
          <a:solidFill>
            <a:srgbClr val="FAE9E6"/>
          </a:solidFill>
          <a:ln w="12700">
            <a:solidFill>
              <a:srgbClr val="FAE9E6"/>
            </a:solidFill>
            <a:prstDash val="solid"/>
          </a:ln>
        </p:spPr>
      </p:sp>
      <p:sp>
        <p:nvSpPr>
          <p:cNvPr id="17" name="tandakb-KB-03"/>
          <p:cNvSpPr/>
          <p:nvPr/>
        </p:nvSpPr>
        <p:spPr>
          <a:xfrm>
            <a:off x="6233008" y="2340864"/>
            <a:ext cx="64008" cy="1207008"/>
          </a:xfrm>
          <a:prstGeom prst="rect">
            <a:avLst/>
          </a:prstGeom>
          <a:solidFill>
            <a:srgbClr val="C2321C"/>
          </a:solidFill>
          <a:ln w="12700">
            <a:solidFill>
              <a:srgbClr val="C2321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70752" y="2505456"/>
            <a:ext cx="201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KB-03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470752" y="2798064"/>
            <a:ext cx="2019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01D"/>
                </a:solidFill>
              </a:rPr>
              <a:t>Agregat dipisah dari rinci</a:t>
            </a:r>
            <a:endParaRPr lang="en-US" sz="1400" dirty="0"/>
          </a:p>
        </p:txBody>
      </p:sp>
      <p:sp>
        <p:nvSpPr>
          <p:cNvPr id="20" name="kb-KB-04"/>
          <p:cNvSpPr/>
          <p:nvPr/>
        </p:nvSpPr>
        <p:spPr>
          <a:xfrm>
            <a:off x="8983751" y="2340864"/>
            <a:ext cx="2476424" cy="1207008"/>
          </a:xfrm>
          <a:prstGeom prst="rect">
            <a:avLst/>
          </a:prstGeom>
          <a:solidFill>
            <a:srgbClr val="FAE9E6"/>
          </a:solidFill>
          <a:ln w="12700">
            <a:solidFill>
              <a:srgbClr val="FAE9E6"/>
            </a:solidFill>
            <a:prstDash val="solid"/>
          </a:ln>
        </p:spPr>
      </p:sp>
      <p:sp>
        <p:nvSpPr>
          <p:cNvPr id="21" name="tandakb-KB-04"/>
          <p:cNvSpPr/>
          <p:nvPr/>
        </p:nvSpPr>
        <p:spPr>
          <a:xfrm>
            <a:off x="8983751" y="2340864"/>
            <a:ext cx="64008" cy="1207008"/>
          </a:xfrm>
          <a:prstGeom prst="rect">
            <a:avLst/>
          </a:prstGeom>
          <a:solidFill>
            <a:srgbClr val="C2321C"/>
          </a:solidFill>
          <a:ln w="12700">
            <a:solidFill>
              <a:srgbClr val="C2321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21495" y="2505456"/>
            <a:ext cx="201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KB-04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9221495" y="2798064"/>
            <a:ext cx="2019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01D"/>
                </a:solidFill>
              </a:rPr>
              <a:t>Nilai luas numerik bersatuan</a:t>
            </a:r>
            <a:endParaRPr lang="en-US" sz="1400" dirty="0"/>
          </a:p>
        </p:txBody>
      </p:sp>
      <p:sp>
        <p:nvSpPr>
          <p:cNvPr id="24" name="kb-KB-05"/>
          <p:cNvSpPr/>
          <p:nvPr/>
        </p:nvSpPr>
        <p:spPr>
          <a:xfrm>
            <a:off x="731520" y="3803904"/>
            <a:ext cx="2476424" cy="1207008"/>
          </a:xfrm>
          <a:prstGeom prst="rect">
            <a:avLst/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5" name="tandakb-KB-05"/>
          <p:cNvSpPr/>
          <p:nvPr/>
        </p:nvSpPr>
        <p:spPr>
          <a:xfrm>
            <a:off x="731520" y="3803904"/>
            <a:ext cx="64008" cy="1207008"/>
          </a:xfrm>
          <a:prstGeom prst="rect">
            <a:avLst/>
          </a:prstGeom>
          <a:solidFill>
            <a:srgbClr val="C98500"/>
          </a:solidFill>
          <a:ln w="12700">
            <a:solidFill>
              <a:srgbClr val="C985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69264" y="3968496"/>
            <a:ext cx="201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KB-05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969264" y="4261104"/>
            <a:ext cx="2019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01D"/>
                </a:solidFill>
              </a:rPr>
              <a:t>Penanda tahun berjalan</a:t>
            </a:r>
            <a:endParaRPr lang="en-US" sz="1400" dirty="0"/>
          </a:p>
        </p:txBody>
      </p:sp>
      <p:sp>
        <p:nvSpPr>
          <p:cNvPr id="28" name="kb-KB-06"/>
          <p:cNvSpPr/>
          <p:nvPr/>
        </p:nvSpPr>
        <p:spPr>
          <a:xfrm>
            <a:off x="3482264" y="3803904"/>
            <a:ext cx="2476424" cy="1207008"/>
          </a:xfrm>
          <a:prstGeom prst="rect">
            <a:avLst/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9" name="tandakb-KB-06"/>
          <p:cNvSpPr/>
          <p:nvPr/>
        </p:nvSpPr>
        <p:spPr>
          <a:xfrm>
            <a:off x="3482264" y="3803904"/>
            <a:ext cx="64008" cy="1207008"/>
          </a:xfrm>
          <a:prstGeom prst="rect">
            <a:avLst/>
          </a:prstGeom>
          <a:solidFill>
            <a:srgbClr val="C98500"/>
          </a:solidFill>
          <a:ln w="12700">
            <a:solidFill>
              <a:srgbClr val="C9850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720008" y="3968496"/>
            <a:ext cx="201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KB-06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3720008" y="4261104"/>
            <a:ext cx="2019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01D"/>
                </a:solidFill>
              </a:rPr>
              <a:t>Dimensi provinsi turunan kode</a:t>
            </a:r>
            <a:endParaRPr lang="en-US" sz="1400" dirty="0"/>
          </a:p>
        </p:txBody>
      </p:sp>
      <p:sp>
        <p:nvSpPr>
          <p:cNvPr id="32" name="kb-KB-07"/>
          <p:cNvSpPr/>
          <p:nvPr/>
        </p:nvSpPr>
        <p:spPr>
          <a:xfrm>
            <a:off x="6233008" y="3803904"/>
            <a:ext cx="2476424" cy="1207008"/>
          </a:xfrm>
          <a:prstGeom prst="rect">
            <a:avLst/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33" name="tandakb-KB-07"/>
          <p:cNvSpPr/>
          <p:nvPr/>
        </p:nvSpPr>
        <p:spPr>
          <a:xfrm>
            <a:off x="6233008" y="3803904"/>
            <a:ext cx="64008" cy="1207008"/>
          </a:xfrm>
          <a:prstGeom prst="rect">
            <a:avLst/>
          </a:prstGeom>
          <a:solidFill>
            <a:srgbClr val="C98500"/>
          </a:solidFill>
          <a:ln w="12700">
            <a:solidFill>
              <a:srgbClr val="C9850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70752" y="3968496"/>
            <a:ext cx="201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KB-07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470752" y="4261104"/>
            <a:ext cx="2019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01D"/>
                </a:solidFill>
              </a:rPr>
              <a:t>Jejak audit dan versi berkas</a:t>
            </a:r>
            <a:endParaRPr lang="en-US" sz="1400" dirty="0"/>
          </a:p>
        </p:txBody>
      </p:sp>
      <p:sp>
        <p:nvSpPr>
          <p:cNvPr id="36" name="bulatan-orang"/>
          <p:cNvSpPr/>
          <p:nvPr/>
        </p:nvSpPr>
        <p:spPr>
          <a:xfrm>
            <a:off x="9221495" y="4005072"/>
            <a:ext cx="457200" cy="457200"/>
          </a:xfrm>
          <a:prstGeom prst="ellipse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pic>
        <p:nvPicPr>
          <p:cNvPr id="37" name="Image 1" descr="/home/claude/deck/assets/icons/ora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4939" y="4128516"/>
            <a:ext cx="210312" cy="210312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9221495" y="457200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5706A"/>
                </a:solidFill>
              </a:rPr>
              <a:t>Prioritas tinggi berasal dari kebutuhan empat dari lima pemangku kepentingan.</a:t>
            </a:r>
            <a:endParaRPr lang="en-US" sz="1150" dirty="0"/>
          </a:p>
        </p:txBody>
      </p:sp>
      <p:sp>
        <p:nvSpPr>
          <p:cNvPr id="39" name="garis"/>
          <p:cNvSpPr/>
          <p:nvPr/>
        </p:nvSpPr>
        <p:spPr>
          <a:xfrm>
            <a:off x="731520" y="5760720"/>
            <a:ext cx="10728655" cy="12802"/>
          </a:xfrm>
          <a:prstGeom prst="rect">
            <a:avLst/>
          </a:prstGeom>
          <a:solidFill>
            <a:srgbClr val="E2E5DE"/>
          </a:solidFill>
          <a:ln w="12700">
            <a:solidFill>
              <a:srgbClr val="E2E5DE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31520" y="5907024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321C"/>
                </a:solidFill>
              </a:rPr>
              <a:t>Merah = prioritas tinggi   </a:t>
            </a:r>
            <a:pPr indent="0" marL="0">
              <a:buNone/>
            </a:pPr>
            <a:r>
              <a:rPr lang="en-US" sz="1200" b="1" dirty="0">
                <a:solidFill>
                  <a:srgbClr val="C98500"/>
                </a:solidFill>
              </a:rPr>
              <a:t>·   Kuning = prioritas sedang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25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08</a:t>
            </a:r>
            <a:pPr algn="l" indent="0" marL="0">
              <a:buNone/>
            </a:pPr>
            <a:r>
              <a:rPr lang="en-US" sz="1000" b="1" spc="25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J.62DMS00.004.1  ·  MERENCANAKAN INTEGRASI DATA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694944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01D"/>
                </a:solidFill>
              </a:rPr>
              <a:t>Lima tahap, satu gerbang penghenti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54480"/>
            <a:ext cx="97228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5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Muat penuh tiap triwulan; kunci (kode_kab, tahun) unik.</a:t>
            </a:r>
            <a:endParaRPr lang="en-US" sz="1350" dirty="0"/>
          </a:p>
        </p:txBody>
      </p:sp>
      <p:sp>
        <p:nvSpPr>
          <p:cNvPr id="5" name="garis"/>
          <p:cNvSpPr/>
          <p:nvPr/>
        </p:nvSpPr>
        <p:spPr>
          <a:xfrm>
            <a:off x="731520" y="1883664"/>
            <a:ext cx="10728655" cy="25603"/>
          </a:xfrm>
          <a:prstGeom prst="rect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6" name="bulatan-integrasi"/>
          <p:cNvSpPr/>
          <p:nvPr/>
        </p:nvSpPr>
        <p:spPr>
          <a:xfrm>
            <a:off x="10710367" y="694944"/>
            <a:ext cx="749808" cy="749808"/>
          </a:xfrm>
          <a:prstGeom prst="ellipse">
            <a:avLst/>
          </a:prstGeom>
          <a:solidFill>
            <a:srgbClr val="EDEBFC"/>
          </a:solidFill>
          <a:ln w="12700">
            <a:solidFill>
              <a:srgbClr val="EDEBFC"/>
            </a:solidFill>
            <a:prstDash val="solid"/>
          </a:ln>
        </p:spPr>
      </p:sp>
      <p:pic>
        <p:nvPicPr>
          <p:cNvPr id="7" name="Image 0" descr="/home/claude/deck/assets/icons/integra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815" y="897392"/>
            <a:ext cx="344912" cy="344912"/>
          </a:xfrm>
          <a:prstGeom prst="rect">
            <a:avLst/>
          </a:prstGeom>
        </p:spPr>
      </p:pic>
      <p:sp>
        <p:nvSpPr>
          <p:cNvPr id="8" name="tahap-Ekstraksi"/>
          <p:cNvSpPr/>
          <p:nvPr/>
        </p:nvSpPr>
        <p:spPr>
          <a:xfrm>
            <a:off x="731520" y="2304288"/>
            <a:ext cx="1897014" cy="2057400"/>
          </a:xfrm>
          <a:prstGeom prst="rect">
            <a:avLst/>
          </a:prstGeom>
          <a:solidFill>
            <a:srgbClr val="E4F3EE"/>
          </a:solidFill>
          <a:ln w="12700">
            <a:solidFill>
              <a:srgbClr val="E4F3EE"/>
            </a:solidFill>
            <a:prstDash val="solid"/>
          </a:ln>
        </p:spPr>
      </p:sp>
      <p:sp>
        <p:nvSpPr>
          <p:cNvPr id="9" name="tandatahap-Ekstraksi"/>
          <p:cNvSpPr/>
          <p:nvPr/>
        </p:nvSpPr>
        <p:spPr>
          <a:xfrm>
            <a:off x="731520" y="2304288"/>
            <a:ext cx="1897014" cy="73152"/>
          </a:xfrm>
          <a:prstGeom prst="rect">
            <a:avLst/>
          </a:prstGeom>
          <a:solidFill>
            <a:srgbClr val="128A61"/>
          </a:solidFill>
          <a:ln w="12700">
            <a:solidFill>
              <a:srgbClr val="128A61"/>
            </a:solidFill>
            <a:prstDash val="solid"/>
          </a:ln>
        </p:spPr>
      </p:sp>
      <p:sp>
        <p:nvSpPr>
          <p:cNvPr id="10" name="bulatan-kumpul"/>
          <p:cNvSpPr/>
          <p:nvPr/>
        </p:nvSpPr>
        <p:spPr>
          <a:xfrm>
            <a:off x="1378275" y="2560320"/>
            <a:ext cx="603504" cy="603504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11" name="Image 1" descr="/home/claude/deck/assets/icons/kumpu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221" y="2723266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" y="3255264"/>
            <a:ext cx="1897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60" kern="0" dirty="0">
                <a:solidFill>
                  <a:srgbClr val="128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859536" y="3511296"/>
            <a:ext cx="1640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1D"/>
                </a:solidFill>
              </a:rPr>
              <a:t>Ekstraksi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59536" y="3803904"/>
            <a:ext cx="16409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5706A"/>
                </a:solidFill>
              </a:rPr>
              <a:t>Baca sebagai teks, catat hash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2646822" y="31638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9D96"/>
                </a:solidFill>
              </a:rPr>
              <a:t>›</a:t>
            </a:r>
            <a:endParaRPr lang="en-US" sz="2000" dirty="0"/>
          </a:p>
        </p:txBody>
      </p:sp>
      <p:sp>
        <p:nvSpPr>
          <p:cNvPr id="16" name="tahap-Pemisahan"/>
          <p:cNvSpPr/>
          <p:nvPr/>
        </p:nvSpPr>
        <p:spPr>
          <a:xfrm>
            <a:off x="2939430" y="2304288"/>
            <a:ext cx="1897014" cy="2057400"/>
          </a:xfrm>
          <a:prstGeom prst="rect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sp>
        <p:nvSpPr>
          <p:cNvPr id="17" name="tandatahap-Pemisahan"/>
          <p:cNvSpPr/>
          <p:nvPr/>
        </p:nvSpPr>
        <p:spPr>
          <a:xfrm>
            <a:off x="2939430" y="2304288"/>
            <a:ext cx="1897014" cy="73152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8" name="bulatan-objek"/>
          <p:cNvSpPr/>
          <p:nvPr/>
        </p:nvSpPr>
        <p:spPr>
          <a:xfrm>
            <a:off x="3586185" y="2560320"/>
            <a:ext cx="603504" cy="603504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19" name="Image 2" descr="/home/claude/deck/assets/icons/obje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131" y="2723266"/>
            <a:ext cx="277612" cy="2776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939430" y="3255264"/>
            <a:ext cx="1897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60" kern="0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3067446" y="3511296"/>
            <a:ext cx="1640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1D"/>
                </a:solidFill>
              </a:rPr>
              <a:t>Pemisahan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3067446" y="3803904"/>
            <a:ext cx="16409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5706A"/>
                </a:solidFill>
              </a:rPr>
              <a:t>514 rinci, 1 agregat ke audit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4854732" y="31638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9D96"/>
                </a:solidFill>
              </a:rPr>
              <a:t>›</a:t>
            </a:r>
            <a:endParaRPr lang="en-US" sz="2000" dirty="0"/>
          </a:p>
        </p:txBody>
      </p:sp>
      <p:sp>
        <p:nvSpPr>
          <p:cNvPr id="24" name="tahap-Transformasi"/>
          <p:cNvSpPr/>
          <p:nvPr/>
        </p:nvSpPr>
        <p:spPr>
          <a:xfrm>
            <a:off x="5147340" y="2304288"/>
            <a:ext cx="1897014" cy="2057400"/>
          </a:xfrm>
          <a:prstGeom prst="rect">
            <a:avLst/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5" name="tandatahap-Transformasi"/>
          <p:cNvSpPr/>
          <p:nvPr/>
        </p:nvSpPr>
        <p:spPr>
          <a:xfrm>
            <a:off x="5147340" y="2304288"/>
            <a:ext cx="1897014" cy="73152"/>
          </a:xfrm>
          <a:prstGeom prst="rect">
            <a:avLst/>
          </a:prstGeom>
          <a:solidFill>
            <a:srgbClr val="C98500"/>
          </a:solidFill>
          <a:ln w="12700">
            <a:solidFill>
              <a:srgbClr val="C98500"/>
            </a:solidFill>
            <a:prstDash val="solid"/>
          </a:ln>
        </p:spPr>
      </p:sp>
      <p:sp>
        <p:nvSpPr>
          <p:cNvPr id="26" name="bulatan-bersih"/>
          <p:cNvSpPr/>
          <p:nvPr/>
        </p:nvSpPr>
        <p:spPr>
          <a:xfrm>
            <a:off x="5794096" y="2560320"/>
            <a:ext cx="603504" cy="603504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27" name="Image 3" descr="/home/claude/deck/assets/icons/bersi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042" y="2723266"/>
            <a:ext cx="277612" cy="27761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147340" y="3255264"/>
            <a:ext cx="1897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60" kern="0" dirty="0">
                <a:solidFill>
                  <a:srgbClr val="C9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29" name="Text 23"/>
          <p:cNvSpPr txBox="1"/>
          <p:nvPr/>
        </p:nvSpPr>
        <p:spPr>
          <a:xfrm>
            <a:off x="5275356" y="3511296"/>
            <a:ext cx="1640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1D"/>
                </a:solidFill>
              </a:rPr>
              <a:t>Transformasi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5275356" y="3803904"/>
            <a:ext cx="16409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5706A"/>
                </a:solidFill>
              </a:rPr>
              <a:t>Parsing, bakukan, unpivot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7062643" y="31638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9D96"/>
                </a:solidFill>
              </a:rPr>
              <a:t>›</a:t>
            </a:r>
            <a:endParaRPr lang="en-US" sz="2000" dirty="0"/>
          </a:p>
        </p:txBody>
      </p:sp>
      <p:sp>
        <p:nvSpPr>
          <p:cNvPr id="32" name="tahap-Validasi"/>
          <p:cNvSpPr/>
          <p:nvPr/>
        </p:nvSpPr>
        <p:spPr>
          <a:xfrm>
            <a:off x="7355251" y="2304288"/>
            <a:ext cx="1897014" cy="2057400"/>
          </a:xfrm>
          <a:prstGeom prst="rect">
            <a:avLst/>
          </a:prstGeom>
          <a:solidFill>
            <a:srgbClr val="FAE9E6"/>
          </a:solidFill>
          <a:ln w="12700">
            <a:solidFill>
              <a:srgbClr val="FAE9E6"/>
            </a:solidFill>
            <a:prstDash val="solid"/>
          </a:ln>
        </p:spPr>
      </p:sp>
      <p:sp>
        <p:nvSpPr>
          <p:cNvPr id="33" name="tandatahap-Validasi"/>
          <p:cNvSpPr/>
          <p:nvPr/>
        </p:nvSpPr>
        <p:spPr>
          <a:xfrm>
            <a:off x="7355251" y="2304288"/>
            <a:ext cx="1897014" cy="73152"/>
          </a:xfrm>
          <a:prstGeom prst="rect">
            <a:avLst/>
          </a:prstGeom>
          <a:solidFill>
            <a:srgbClr val="C2321C"/>
          </a:solidFill>
          <a:ln w="12700">
            <a:solidFill>
              <a:srgbClr val="C2321C"/>
            </a:solidFill>
            <a:prstDash val="solid"/>
          </a:ln>
        </p:spPr>
      </p:sp>
      <p:sp>
        <p:nvSpPr>
          <p:cNvPr id="34" name="bulatan-validasi"/>
          <p:cNvSpPr/>
          <p:nvPr/>
        </p:nvSpPr>
        <p:spPr>
          <a:xfrm>
            <a:off x="8002006" y="2560320"/>
            <a:ext cx="603504" cy="603504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35" name="Image 4" descr="/home/claude/deck/assets/icons/validas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4952" y="2723266"/>
            <a:ext cx="277612" cy="277612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355251" y="3255264"/>
            <a:ext cx="1897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60" kern="0" dirty="0">
                <a:solidFill>
                  <a:srgbClr val="C2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37" name="Text 30"/>
          <p:cNvSpPr txBox="1"/>
          <p:nvPr/>
        </p:nvSpPr>
        <p:spPr>
          <a:xfrm>
            <a:off x="7483267" y="3511296"/>
            <a:ext cx="1640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1D"/>
                </a:solidFill>
              </a:rPr>
              <a:t>Validasi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7483267" y="3803904"/>
            <a:ext cx="16409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5706A"/>
                </a:solidFill>
              </a:rPr>
              <a:t>7 aturan, blocker menghentikan</a:t>
            </a:r>
            <a:endParaRPr lang="en-US" sz="1150" dirty="0"/>
          </a:p>
        </p:txBody>
      </p:sp>
      <p:sp>
        <p:nvSpPr>
          <p:cNvPr id="39" name="Text 32"/>
          <p:cNvSpPr txBox="1"/>
          <p:nvPr/>
        </p:nvSpPr>
        <p:spPr>
          <a:xfrm>
            <a:off x="9270553" y="31638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9D96"/>
                </a:solidFill>
              </a:rPr>
              <a:t>›</a:t>
            </a:r>
            <a:endParaRPr lang="en-US" sz="2000" dirty="0"/>
          </a:p>
        </p:txBody>
      </p:sp>
      <p:sp>
        <p:nvSpPr>
          <p:cNvPr id="40" name="tahap-Muat"/>
          <p:cNvSpPr/>
          <p:nvPr/>
        </p:nvSpPr>
        <p:spPr>
          <a:xfrm>
            <a:off x="9563161" y="2304288"/>
            <a:ext cx="1897014" cy="2057400"/>
          </a:xfrm>
          <a:prstGeom prst="rect">
            <a:avLst/>
          </a:prstGeom>
          <a:solidFill>
            <a:srgbClr val="E7F2EB"/>
          </a:solidFill>
          <a:ln w="12700">
            <a:solidFill>
              <a:srgbClr val="E7F2EB"/>
            </a:solidFill>
            <a:prstDash val="solid"/>
          </a:ln>
        </p:spPr>
      </p:sp>
      <p:sp>
        <p:nvSpPr>
          <p:cNvPr id="41" name="tandatahap-Muat"/>
          <p:cNvSpPr/>
          <p:nvPr/>
        </p:nvSpPr>
        <p:spPr>
          <a:xfrm>
            <a:off x="9563161" y="2304288"/>
            <a:ext cx="1897014" cy="73152"/>
          </a:xfrm>
          <a:prstGeom prst="rect">
            <a:avLst/>
          </a:prstGeom>
          <a:solidFill>
            <a:srgbClr val="1E7A3C"/>
          </a:solidFill>
          <a:ln w="12700">
            <a:solidFill>
              <a:srgbClr val="1E7A3C"/>
            </a:solidFill>
            <a:prstDash val="solid"/>
          </a:ln>
        </p:spPr>
      </p:sp>
      <p:sp>
        <p:nvSpPr>
          <p:cNvPr id="42" name="bulatan-bi"/>
          <p:cNvSpPr/>
          <p:nvPr/>
        </p:nvSpPr>
        <p:spPr>
          <a:xfrm>
            <a:off x="10209916" y="2560320"/>
            <a:ext cx="603504" cy="603504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43" name="Image 5" descr="/home/claude/deck/assets/icons/b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2862" y="2723266"/>
            <a:ext cx="277612" cy="277612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9563161" y="3255264"/>
            <a:ext cx="1897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60" kern="0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45" name="Text 37"/>
          <p:cNvSpPr txBox="1"/>
          <p:nvPr/>
        </p:nvSpPr>
        <p:spPr>
          <a:xfrm>
            <a:off x="9691177" y="3511296"/>
            <a:ext cx="16409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01D"/>
                </a:solidFill>
              </a:rPr>
              <a:t>Muat</a:t>
            </a:r>
            <a:endParaRPr lang="en-US" sz="1500" dirty="0"/>
          </a:p>
        </p:txBody>
      </p:sp>
      <p:sp>
        <p:nvSpPr>
          <p:cNvPr id="46" name="Text 38"/>
          <p:cNvSpPr txBox="1"/>
          <p:nvPr/>
        </p:nvSpPr>
        <p:spPr>
          <a:xfrm>
            <a:off x="9691177" y="3803904"/>
            <a:ext cx="16409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5706A"/>
                </a:solidFill>
              </a:rPr>
              <a:t>4.626 baris + 2 dimensi</a:t>
            </a:r>
            <a:endParaRPr lang="en-US" sz="1150" dirty="0"/>
          </a:p>
        </p:txBody>
      </p:sp>
      <p:sp>
        <p:nvSpPr>
          <p:cNvPr id="47" name="blok-audit"/>
          <p:cNvSpPr/>
          <p:nvPr/>
        </p:nvSpPr>
        <p:spPr>
          <a:xfrm>
            <a:off x="731520" y="4937760"/>
            <a:ext cx="10728655" cy="987552"/>
          </a:xfrm>
          <a:prstGeom prst="rect">
            <a:avLst/>
          </a:prstGeom>
          <a:solidFill>
            <a:srgbClr val="FDEDE6"/>
          </a:solidFill>
          <a:ln w="12700">
            <a:solidFill>
              <a:srgbClr val="FDEDE6"/>
            </a:solidFill>
            <a:prstDash val="solid"/>
          </a:ln>
        </p:spPr>
      </p:sp>
      <p:sp>
        <p:nvSpPr>
          <p:cNvPr id="48" name="bulatan-peringatan"/>
          <p:cNvSpPr/>
          <p:nvPr/>
        </p:nvSpPr>
        <p:spPr>
          <a:xfrm>
            <a:off x="1005840" y="5138928"/>
            <a:ext cx="566928" cy="56692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49" name="Image 6" descr="/home/claude/deck/assets/icons/peringat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8911" y="5291999"/>
            <a:ext cx="260787" cy="260787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1737360" y="5102352"/>
            <a:ext cx="9357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431A"/>
                </a:solidFill>
              </a:rPr>
              <a:t>Jalur audit — yang membuat temuan 2023 mungkin</a:t>
            </a:r>
            <a:endParaRPr lang="en-US" sz="1500" dirty="0"/>
          </a:p>
        </p:txBody>
      </p:sp>
      <p:sp>
        <p:nvSpPr>
          <p:cNvPr id="51" name="Text 42"/>
          <p:cNvSpPr txBox="1"/>
          <p:nvPr/>
        </p:nvSpPr>
        <p:spPr>
          <a:xfrm>
            <a:off x="1737360" y="5413248"/>
            <a:ext cx="93570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1D"/>
                </a:solidFill>
              </a:rPr>
              <a:t>Baris Total disimpan di tabel audit_agregat, di luar tabel fakta. Tanpa pembanding itu, selisih 154.657 ha tidak akan terdeteksi.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25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08</a:t>
            </a:r>
            <a:pPr algn="l" indent="0" marL="0">
              <a:buNone/>
            </a:pPr>
            <a:r>
              <a:rPr lang="en-US" sz="1000" b="1" spc="25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J.62DMS00.004.1  ·  PEMETAAN SKEMA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694944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01D"/>
                </a:solidFill>
              </a:rPr>
              <a:t>Setiap kolom punya tujuan dan aturannya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54480"/>
            <a:ext cx="97228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5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tabel sasaran, plus audit_agregat di luar model.</a:t>
            </a:r>
            <a:endParaRPr lang="en-US" sz="1350" dirty="0"/>
          </a:p>
        </p:txBody>
      </p:sp>
      <p:sp>
        <p:nvSpPr>
          <p:cNvPr id="5" name="garis"/>
          <p:cNvSpPr/>
          <p:nvPr/>
        </p:nvSpPr>
        <p:spPr>
          <a:xfrm>
            <a:off x="731520" y="1883664"/>
            <a:ext cx="10728655" cy="25603"/>
          </a:xfrm>
          <a:prstGeom prst="rect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6" name="bulatan-integrasi"/>
          <p:cNvSpPr/>
          <p:nvPr/>
        </p:nvSpPr>
        <p:spPr>
          <a:xfrm>
            <a:off x="10710367" y="694944"/>
            <a:ext cx="749808" cy="749808"/>
          </a:xfrm>
          <a:prstGeom prst="ellipse">
            <a:avLst/>
          </a:prstGeom>
          <a:solidFill>
            <a:srgbClr val="EDEBFC"/>
          </a:solidFill>
          <a:ln w="12700">
            <a:solidFill>
              <a:srgbClr val="EDEBFC"/>
            </a:solidFill>
            <a:prstDash val="solid"/>
          </a:ln>
        </p:spPr>
      </p:sp>
      <p:pic>
        <p:nvPicPr>
          <p:cNvPr id="7" name="Image 0" descr="/home/claude/deck/assets/icons/integra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815" y="897392"/>
            <a:ext cx="344912" cy="34491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12848"/>
          <a:ext cx="1072865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1783080"/>
                <a:gridCol w="3063240"/>
                <a:gridCol w="158465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60" kern="0" dirty="0">
                          <a:solidFill>
                            <a:srgbClr val="4A3B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KOLOM SUMBER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60" kern="0" dirty="0">
                          <a:solidFill>
                            <a:srgbClr val="4A3B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KOLOM SASARAN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60" kern="0" dirty="0">
                          <a:solidFill>
                            <a:srgbClr val="4A3B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60" kern="0" dirty="0">
                          <a:solidFill>
                            <a:srgbClr val="4A3B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TRANSFORMASI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60" kern="0" dirty="0">
                          <a:solidFill>
                            <a:srgbClr val="4A3B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ATURAN NILAI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0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 Wilayah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8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kode_kab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57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dim_wilayah, fakta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57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 string, pad 4 digit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57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Wajib, tidak kosong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0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 Wilayah — 2 digit awal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8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kode_prov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57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dim_wilayah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57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Substring 0–2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57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Dipetakan ke provinsi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0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Kabupaten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8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nama_kab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57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dim_wilayah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57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Trim, rapatkan, Title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57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Wajib, unik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0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 2018–2026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8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57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fakta, dim_tahun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57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Unpivot kolom ke baris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57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2018–2026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0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 sel 2018–2026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8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luas_ha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57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57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Hapus titik, koma ke titik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57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0, numerik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0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(dibangkitkan)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8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status_kelengkapan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57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dim_tahun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57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Penandaan otomatis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57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lengkap / parsial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32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 Kabupaten =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232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232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audit_agregat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232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Dipisahkan lebih dulu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232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masuk tabel fakta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E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tar-pembat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1887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FFFFF">
                    <a:alpha val="28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4000" dirty="0"/>
          </a:p>
        </p:txBody>
      </p:sp>
      <p:sp>
        <p:nvSpPr>
          <p:cNvPr id="4" name="bulatan-telaah"/>
          <p:cNvSpPr/>
          <p:nvPr/>
        </p:nvSpPr>
        <p:spPr>
          <a:xfrm>
            <a:off x="9722815" y="1371600"/>
            <a:ext cx="1737360" cy="1737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deck/assets/icons/telaa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8303" y="1847088"/>
            <a:ext cx="786384" cy="7863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DUA  ·  UNIT 3 SAMPAI 7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840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80" kern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Mengumpulkan, menelaah, memvalidasi, membersihkan</a:t>
            </a:r>
            <a:endParaRPr lang="en-US" sz="3800" dirty="0"/>
          </a:p>
        </p:txBody>
      </p:sp>
      <p:sp>
        <p:nvSpPr>
          <p:cNvPr id="8" name="garis-pembatas"/>
          <p:cNvSpPr/>
          <p:nvPr/>
        </p:nvSpPr>
        <p:spPr>
          <a:xfrm>
            <a:off x="731520" y="4901184"/>
            <a:ext cx="402336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138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Dari berkas mentah sampai tabel fakta 4.626 baris yang siap dikonsumsi Power BI.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128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08</a:t>
            </a:r>
            <a:pPr algn="l" indent="0" marL="0">
              <a:buNone/>
            </a:pPr>
            <a:r>
              <a:rPr lang="en-US" sz="1000" b="1" spc="25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J.62DMI00.004.1  ·  MENGUMPULKAN DATA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694944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01D"/>
                </a:solidFill>
              </a:rPr>
              <a:t>Dibaca sebagai teks, agar tak ada yang berubah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54480"/>
            <a:ext cx="97228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5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Akuisisi sekali tarik, dengan hash dan log yang dapat diaudit.</a:t>
            </a:r>
            <a:endParaRPr lang="en-US" sz="1350" dirty="0"/>
          </a:p>
        </p:txBody>
      </p:sp>
      <p:sp>
        <p:nvSpPr>
          <p:cNvPr id="5" name="garis"/>
          <p:cNvSpPr/>
          <p:nvPr/>
        </p:nvSpPr>
        <p:spPr>
          <a:xfrm>
            <a:off x="731520" y="1883664"/>
            <a:ext cx="10728655" cy="25603"/>
          </a:xfrm>
          <a:prstGeom prst="rect">
            <a:avLst/>
          </a:prstGeom>
          <a:solidFill>
            <a:srgbClr val="128A61"/>
          </a:solidFill>
          <a:ln w="12700">
            <a:solidFill>
              <a:srgbClr val="128A61"/>
            </a:solidFill>
            <a:prstDash val="solid"/>
          </a:ln>
        </p:spPr>
      </p:sp>
      <p:sp>
        <p:nvSpPr>
          <p:cNvPr id="6" name="bulatan-kumpul"/>
          <p:cNvSpPr/>
          <p:nvPr/>
        </p:nvSpPr>
        <p:spPr>
          <a:xfrm>
            <a:off x="10710367" y="694944"/>
            <a:ext cx="749808" cy="749808"/>
          </a:xfrm>
          <a:prstGeom prst="ellipse">
            <a:avLst/>
          </a:prstGeom>
          <a:solidFill>
            <a:srgbClr val="E4F3EE"/>
          </a:solidFill>
          <a:ln w="12700">
            <a:solidFill>
              <a:srgbClr val="E4F3EE"/>
            </a:solidFill>
            <a:prstDash val="solid"/>
          </a:ln>
        </p:spPr>
      </p:sp>
      <p:pic>
        <p:nvPicPr>
          <p:cNvPr id="7" name="Image 0" descr="/home/claude/deck/assets/icons/kump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815" y="897392"/>
            <a:ext cx="344912" cy="344912"/>
          </a:xfrm>
          <a:prstGeom prst="rect">
            <a:avLst/>
          </a:prstGeom>
        </p:spPr>
      </p:pic>
      <p:sp>
        <p:nvSpPr>
          <p:cNvPr id="8" name="panel-kode"/>
          <p:cNvSpPr/>
          <p:nvPr/>
        </p:nvSpPr>
        <p:spPr>
          <a:xfrm>
            <a:off x="731520" y="2231136"/>
            <a:ext cx="6309360" cy="3017520"/>
          </a:xfrm>
          <a:prstGeom prst="rect">
            <a:avLst/>
          </a:prstGeom>
          <a:solidFill>
            <a:srgbClr val="E4F3EE"/>
          </a:solidFill>
          <a:ln w="12700">
            <a:solidFill>
              <a:srgbClr val="E4F3EE"/>
            </a:solidFill>
            <a:prstDash val="solid"/>
          </a:ln>
        </p:spPr>
      </p:sp>
      <p:sp>
        <p:nvSpPr>
          <p:cNvPr id="9" name="tanda-kode"/>
          <p:cNvSpPr/>
          <p:nvPr/>
        </p:nvSpPr>
        <p:spPr>
          <a:xfrm>
            <a:off x="731520" y="2231136"/>
            <a:ext cx="6309360" cy="73152"/>
          </a:xfrm>
          <a:prstGeom prst="rect">
            <a:avLst/>
          </a:prstGeom>
          <a:solidFill>
            <a:srgbClr val="128A61"/>
          </a:solidFill>
          <a:ln w="12700">
            <a:solidFill>
              <a:srgbClr val="128A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1560" y="2432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28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01_kumpulkan.py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816352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033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pd.read_excel(SUMBER,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033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sheet_name="data", dtype=str)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033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= {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033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"sha256":       sidik_jari(SUMBER),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033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"jumlah_baris": int(df.shape[0]),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033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"sel_kosong":   int(df.isna().sum().sum()),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033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bulatan-kunci"/>
          <p:cNvSpPr/>
          <p:nvPr/>
        </p:nvSpPr>
        <p:spPr>
          <a:xfrm>
            <a:off x="7406640" y="2231136"/>
            <a:ext cx="512064" cy="512064"/>
          </a:xfrm>
          <a:prstGeom prst="ellipse">
            <a:avLst/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pic>
        <p:nvPicPr>
          <p:cNvPr id="13" name="Image 1" descr="/home/claude/deck/assets/icons/kun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897" y="2369393"/>
            <a:ext cx="235549" cy="23554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065008" y="2249424"/>
            <a:ext cx="33951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1D"/>
                </a:solidFill>
              </a:rPr>
              <a:t>Mengapa dtype=str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406640" y="2871216"/>
            <a:ext cx="405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5706A"/>
                </a:solidFill>
              </a:rPr>
              <a:t>pandas bisa membaca 1.091,18 sebagai 1.091 — atau sebagai nilai kosong. Dibaca apa adanya, keputusan konversi jadi eksplisit.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406640" y="3822192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AKUISISI</a:t>
            </a:r>
            <a:endParaRPr lang="en-US" sz="950" dirty="0"/>
          </a:p>
        </p:txBody>
      </p:sp>
      <p:sp>
        <p:nvSpPr>
          <p:cNvPr id="17" name="garis"/>
          <p:cNvSpPr/>
          <p:nvPr/>
        </p:nvSpPr>
        <p:spPr>
          <a:xfrm>
            <a:off x="7406640" y="4133088"/>
            <a:ext cx="4053535" cy="12802"/>
          </a:xfrm>
          <a:prstGeom prst="rect">
            <a:avLst/>
          </a:prstGeom>
          <a:solidFill>
            <a:srgbClr val="E2E5DE"/>
          </a:solidFill>
          <a:ln w="12700">
            <a:solidFill>
              <a:srgbClr val="E2E5D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406640" y="4187952"/>
            <a:ext cx="2956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Baris terbaca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0362895" y="41879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8A61"/>
                </a:solidFill>
              </a:rPr>
              <a:t>515</a:t>
            </a:r>
            <a:endParaRPr lang="en-US" sz="1200" dirty="0"/>
          </a:p>
        </p:txBody>
      </p:sp>
      <p:sp>
        <p:nvSpPr>
          <p:cNvPr id="20" name="garis"/>
          <p:cNvSpPr/>
          <p:nvPr/>
        </p:nvSpPr>
        <p:spPr>
          <a:xfrm>
            <a:off x="7406640" y="4498848"/>
            <a:ext cx="4053535" cy="12802"/>
          </a:xfrm>
          <a:prstGeom prst="rect">
            <a:avLst/>
          </a:prstGeom>
          <a:solidFill>
            <a:srgbClr val="E2E5DE"/>
          </a:solidFill>
          <a:ln w="12700">
            <a:solidFill>
              <a:srgbClr val="E2E5D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406640" y="4553712"/>
            <a:ext cx="2956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Kolom terbaca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0362895" y="45537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8A61"/>
                </a:solidFill>
              </a:rPr>
              <a:t>11</a:t>
            </a:r>
            <a:endParaRPr lang="en-US" sz="1200" dirty="0"/>
          </a:p>
        </p:txBody>
      </p:sp>
      <p:sp>
        <p:nvSpPr>
          <p:cNvPr id="23" name="garis"/>
          <p:cNvSpPr/>
          <p:nvPr/>
        </p:nvSpPr>
        <p:spPr>
          <a:xfrm>
            <a:off x="7406640" y="4864608"/>
            <a:ext cx="4053535" cy="12802"/>
          </a:xfrm>
          <a:prstGeom prst="rect">
            <a:avLst/>
          </a:prstGeom>
          <a:solidFill>
            <a:srgbClr val="E2E5DE"/>
          </a:solidFill>
          <a:ln w="12700">
            <a:solidFill>
              <a:srgbClr val="E2E5D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406640" y="4919472"/>
            <a:ext cx="2956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Sel kosong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10362895" y="49194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8A6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garis"/>
          <p:cNvSpPr/>
          <p:nvPr/>
        </p:nvSpPr>
        <p:spPr>
          <a:xfrm>
            <a:off x="7406640" y="5230368"/>
            <a:ext cx="4053535" cy="12802"/>
          </a:xfrm>
          <a:prstGeom prst="rect">
            <a:avLst/>
          </a:prstGeom>
          <a:solidFill>
            <a:srgbClr val="E2E5DE"/>
          </a:solidFill>
          <a:ln w="12700">
            <a:solidFill>
              <a:srgbClr val="E2E5DE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406640" y="5285232"/>
            <a:ext cx="2956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Sheet lain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10362895" y="52852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8A61"/>
                </a:solidFill>
              </a:rPr>
              <a:t>Tidak ada</a:t>
            </a:r>
            <a:endParaRPr lang="en-US" sz="1200" dirty="0"/>
          </a:p>
        </p:txBody>
      </p:sp>
      <p:sp>
        <p:nvSpPr>
          <p:cNvPr id="29" name="garis"/>
          <p:cNvSpPr/>
          <p:nvPr/>
        </p:nvSpPr>
        <p:spPr>
          <a:xfrm>
            <a:off x="7406640" y="5596128"/>
            <a:ext cx="4053535" cy="12802"/>
          </a:xfrm>
          <a:prstGeom prst="rect">
            <a:avLst/>
          </a:prstGeom>
          <a:solidFill>
            <a:srgbClr val="E2E5DE"/>
          </a:solidFill>
          <a:ln w="12700">
            <a:solidFill>
              <a:srgbClr val="E2E5DE"/>
            </a:solidFill>
            <a:prstDash val="solid"/>
          </a:ln>
        </p:spPr>
      </p:sp>
      <p:sp>
        <p:nvSpPr>
          <p:cNvPr id="30" name="garis"/>
          <p:cNvSpPr/>
          <p:nvPr/>
        </p:nvSpPr>
        <p:spPr>
          <a:xfrm>
            <a:off x="731520" y="5687568"/>
            <a:ext cx="10728655" cy="12802"/>
          </a:xfrm>
          <a:prstGeom prst="rect">
            <a:avLst/>
          </a:prstGeom>
          <a:solidFill>
            <a:srgbClr val="E2E5DE"/>
          </a:solidFill>
          <a:ln w="12700">
            <a:solidFill>
              <a:srgbClr val="E2E5DE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31520" y="5833872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5706A"/>
                </a:solidFill>
              </a:rPr>
              <a:t>Header kolom tahun tidak seragam tipenya — dinormalisasi segera setelah dibaca.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08</a:t>
            </a:r>
            <a:pPr algn="l" indent="0" marL="0">
              <a:buNone/>
            </a:pPr>
            <a:r>
              <a:rPr lang="en-US" sz="1000" b="1" spc="25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J.62DMI00.005.1  ·  MENELAAH DATA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694944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01D"/>
                </a:solidFill>
              </a:rPr>
              <a:t>Luas menyusut, sebarannya justru melebar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54480"/>
            <a:ext cx="97228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5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ukuran berbeda satuan — dua grafik terpisah, bukan satu sumbu ganda.</a:t>
            </a:r>
            <a:endParaRPr lang="en-US" sz="1350" dirty="0"/>
          </a:p>
        </p:txBody>
      </p:sp>
      <p:sp>
        <p:nvSpPr>
          <p:cNvPr id="5" name="garis"/>
          <p:cNvSpPr/>
          <p:nvPr/>
        </p:nvSpPr>
        <p:spPr>
          <a:xfrm>
            <a:off x="731520" y="1883664"/>
            <a:ext cx="10728655" cy="25603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bulatan-telaah"/>
          <p:cNvSpPr/>
          <p:nvPr/>
        </p:nvSpPr>
        <p:spPr>
          <a:xfrm>
            <a:off x="10710367" y="694944"/>
            <a:ext cx="749808" cy="749808"/>
          </a:xfrm>
          <a:prstGeom prst="ellipse">
            <a:avLst/>
          </a:prstGeom>
          <a:solidFill>
            <a:srgbClr val="FDEDE6"/>
          </a:solidFill>
          <a:ln w="12700">
            <a:solidFill>
              <a:srgbClr val="FDEDE6"/>
            </a:solidFill>
            <a:prstDash val="solid"/>
          </a:ln>
        </p:spPr>
      </p:sp>
      <p:pic>
        <p:nvPicPr>
          <p:cNvPr id="7" name="Image 0" descr="/home/claude/deck/assets/icons/telaa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815" y="897392"/>
            <a:ext cx="344912" cy="344912"/>
          </a:xfrm>
          <a:prstGeom prst="rect">
            <a:avLst/>
          </a:prstGeom>
        </p:spPr>
      </p:pic>
      <p:sp>
        <p:nvSpPr>
          <p:cNvPr id="8" name="tanda-g1"/>
          <p:cNvSpPr/>
          <p:nvPr/>
        </p:nvSpPr>
        <p:spPr>
          <a:xfrm>
            <a:off x="731520" y="2212848"/>
            <a:ext cx="329184" cy="64008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88720" y="2139696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01D"/>
                </a:solidFill>
              </a:rPr>
              <a:t>Luas terbakar, ribu hektare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2487168"/>
          <a:ext cx="536432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31520" y="5175504"/>
            <a:ext cx="509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Puncak 2019 dan 2023 — keduanya tahun El Niño, 2,8× dan 1,7× rata-rata.</a:t>
            </a:r>
            <a:endParaRPr lang="en-US" sz="1200" dirty="0"/>
          </a:p>
        </p:txBody>
      </p:sp>
      <p:sp>
        <p:nvSpPr>
          <p:cNvPr id="12" name="tanda-g2"/>
          <p:cNvSpPr/>
          <p:nvPr/>
        </p:nvSpPr>
        <p:spPr>
          <a:xfrm>
            <a:off x="6370168" y="2212848"/>
            <a:ext cx="329184" cy="64008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27368" y="2139696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01D"/>
                </a:solidFill>
              </a:rPr>
              <a:t>Kabupaten/kota terdampak</a:t>
            </a:r>
            <a:endParaRPr lang="en-US" sz="14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095848" y="2487168"/>
          <a:ext cx="536432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6370168" y="5175504"/>
            <a:ext cx="509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Naik dari 226 ke 358 daerah — kebakaran menyebar walau totalnya mengecil.</a:t>
            </a:r>
            <a:endParaRPr lang="en-US" sz="1200" dirty="0"/>
          </a:p>
        </p:txBody>
      </p:sp>
      <p:sp>
        <p:nvSpPr>
          <p:cNvPr id="16" name="blok-implikasi"/>
          <p:cNvSpPr/>
          <p:nvPr/>
        </p:nvSpPr>
        <p:spPr>
          <a:xfrm>
            <a:off x="731520" y="5797296"/>
            <a:ext cx="10728655" cy="640080"/>
          </a:xfrm>
          <a:prstGeom prst="rect">
            <a:avLst/>
          </a:prstGeom>
          <a:solidFill>
            <a:srgbClr val="FDEDE6"/>
          </a:solidFill>
          <a:ln w="12700">
            <a:solidFill>
              <a:srgbClr val="FDEDE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005840" y="5907024"/>
            <a:ext cx="10180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431A"/>
                </a:solidFill>
              </a:rPr>
              <a:t>Implikasi — indikator kinerja program sebaiknya jumlah daerah terdampak, bukan total luas: kedua ukuran bergerak berlawanan arah.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08</a:t>
            </a:r>
            <a:pPr algn="l" indent="0" marL="0">
              <a:buNone/>
            </a:pPr>
            <a:r>
              <a:rPr lang="en-US" sz="1000" b="1" spc="25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J.62DMI00.005.1  ·  MENELAAH DATA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694944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01D"/>
                </a:solidFill>
              </a:rPr>
              <a:t>Masalahnya sangat terkonsentrasi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54480"/>
            <a:ext cx="97228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5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Sepuluh kabupaten teratas menanggung 41,6% luas nasional 2025.</a:t>
            </a:r>
            <a:endParaRPr lang="en-US" sz="1350" dirty="0"/>
          </a:p>
        </p:txBody>
      </p:sp>
      <p:sp>
        <p:nvSpPr>
          <p:cNvPr id="5" name="garis"/>
          <p:cNvSpPr/>
          <p:nvPr/>
        </p:nvSpPr>
        <p:spPr>
          <a:xfrm>
            <a:off x="731520" y="1883664"/>
            <a:ext cx="10728655" cy="25603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bulatan-telaah"/>
          <p:cNvSpPr/>
          <p:nvPr/>
        </p:nvSpPr>
        <p:spPr>
          <a:xfrm>
            <a:off x="10710367" y="694944"/>
            <a:ext cx="749808" cy="749808"/>
          </a:xfrm>
          <a:prstGeom prst="ellipse">
            <a:avLst/>
          </a:prstGeom>
          <a:solidFill>
            <a:srgbClr val="FDEDE6"/>
          </a:solidFill>
          <a:ln w="12700">
            <a:solidFill>
              <a:srgbClr val="FDEDE6"/>
            </a:solidFill>
            <a:prstDash val="solid"/>
          </a:ln>
        </p:spPr>
      </p:sp>
      <p:pic>
        <p:nvPicPr>
          <p:cNvPr id="7" name="Image 0" descr="/home/claude/deck/assets/icons/telaa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815" y="897392"/>
            <a:ext cx="344912" cy="344912"/>
          </a:xfrm>
          <a:prstGeom prst="rect">
            <a:avLst/>
          </a:prstGeom>
        </p:spPr>
      </p:pic>
      <p:graphicFrame>
        <p:nvGraphicFramePr>
          <p:cNvPr id="8" name="Chart 0" descr=""/>
          <p:cNvGraphicFramePr/>
          <p:nvPr/>
        </p:nvGraphicFramePr>
        <p:xfrm>
          <a:off x="502920" y="2084832"/>
          <a:ext cx="7589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kartu-konsentrasi"/>
          <p:cNvSpPr/>
          <p:nvPr/>
        </p:nvSpPr>
        <p:spPr>
          <a:xfrm>
            <a:off x="8321040" y="2121408"/>
            <a:ext cx="3139135" cy="1828800"/>
          </a:xfrm>
          <a:prstGeom prst="rect">
            <a:avLst/>
          </a:prstGeom>
          <a:solidFill>
            <a:srgbClr val="FDEDE6"/>
          </a:solidFill>
          <a:ln w="12700">
            <a:solidFill>
              <a:srgbClr val="FDED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95360" y="2322576"/>
            <a:ext cx="2590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43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53,8%</a:t>
            </a:r>
            <a:endParaRPr lang="en-US" sz="4400" dirty="0"/>
          </a:p>
        </p:txBody>
      </p:sp>
      <p:sp>
        <p:nvSpPr>
          <p:cNvPr id="11" name="Text 7"/>
          <p:cNvSpPr txBox="1"/>
          <p:nvPr/>
        </p:nvSpPr>
        <p:spPr>
          <a:xfrm>
            <a:off x="8595360" y="3072384"/>
            <a:ext cx="25904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1D"/>
                </a:solidFill>
              </a:rPr>
              <a:t>luas terbakar 2018–2026 berasal dari 20 kabupaten — dari total 514.</a:t>
            </a:r>
            <a:endParaRPr lang="en-US" sz="1250" dirty="0"/>
          </a:p>
        </p:txBody>
      </p:sp>
      <p:sp>
        <p:nvSpPr>
          <p:cNvPr id="12" name="bar-top20"/>
          <p:cNvSpPr/>
          <p:nvPr/>
        </p:nvSpPr>
        <p:spPr>
          <a:xfrm>
            <a:off x="8321040" y="4059936"/>
            <a:ext cx="1688855" cy="274320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3" name="bar-sisa"/>
          <p:cNvSpPr/>
          <p:nvPr/>
        </p:nvSpPr>
        <p:spPr>
          <a:xfrm>
            <a:off x="10009895" y="4059936"/>
            <a:ext cx="1450280" cy="274320"/>
          </a:xfrm>
          <a:prstGeom prst="rect">
            <a:avLst/>
          </a:prstGeom>
          <a:solidFill>
            <a:srgbClr val="E8E2DA"/>
          </a:solidFill>
          <a:ln w="12700">
            <a:solidFill>
              <a:srgbClr val="E8E2D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321040" y="4389120"/>
            <a:ext cx="18834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431A"/>
                </a:solidFill>
              </a:rPr>
              <a:t>20 kabupaten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10009895" y="4389120"/>
            <a:ext cx="145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5706A"/>
                </a:solidFill>
              </a:rPr>
              <a:t>494 sisanya</a:t>
            </a:r>
            <a:endParaRPr lang="en-US" sz="1050" dirty="0"/>
          </a:p>
        </p:txBody>
      </p:sp>
      <p:sp>
        <p:nvSpPr>
          <p:cNvPr id="16" name="bulatan-peta"/>
          <p:cNvSpPr/>
          <p:nvPr/>
        </p:nvSpPr>
        <p:spPr>
          <a:xfrm>
            <a:off x="8321040" y="4864608"/>
            <a:ext cx="475488" cy="475488"/>
          </a:xfrm>
          <a:prstGeom prst="ellipse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pic>
        <p:nvPicPr>
          <p:cNvPr id="17" name="Image 1" descr="/home/claude/deck/assets/icons/p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422" y="4992990"/>
            <a:ext cx="218724" cy="2187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924544" y="4864608"/>
            <a:ext cx="25356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01D"/>
                </a:solidFill>
              </a:rPr>
              <a:t>Nusa Tenggara Timur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5376672"/>
            <a:ext cx="3139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862.908 ha kumulatif, tertinggi nasional — tiga kali provinsi kedua.</a:t>
            </a:r>
            <a:endParaRPr lang="en-US" sz="1200" dirty="0"/>
          </a:p>
        </p:txBody>
      </p:sp>
      <p:sp>
        <p:nvSpPr>
          <p:cNvPr id="20" name="garis"/>
          <p:cNvSpPr/>
          <p:nvPr/>
        </p:nvSpPr>
        <p:spPr>
          <a:xfrm>
            <a:off x="731520" y="5961888"/>
            <a:ext cx="10728655" cy="12802"/>
          </a:xfrm>
          <a:prstGeom prst="rect">
            <a:avLst/>
          </a:prstGeom>
          <a:solidFill>
            <a:srgbClr val="E2E5DE"/>
          </a:solidFill>
          <a:ln w="12700">
            <a:solidFill>
              <a:srgbClr val="E2E5DE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31520" y="6108192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5706A"/>
                </a:solidFill>
              </a:rPr>
              <a:t>Median kabupaten terdampak 2025 hanya 208 ha — karena itu dashboard memakai median, bukan rata-rata.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08</a:t>
            </a:r>
            <a:pPr algn="l" indent="0" marL="0">
              <a:buNone/>
            </a:pPr>
            <a:r>
              <a:rPr lang="en-US" sz="1000" b="1" spc="25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J.62DMI00.006.1  ·  MEMVALIDASI DATA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694944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01D"/>
                </a:solidFill>
              </a:rPr>
              <a:t>Enam aturan lulus. Satu tidak.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54480"/>
            <a:ext cx="97228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5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tingkat blocker menghentikan pemuatan — pilihan yang disengaja.</a:t>
            </a:r>
            <a:endParaRPr lang="en-US" sz="1350" dirty="0"/>
          </a:p>
        </p:txBody>
      </p:sp>
      <p:sp>
        <p:nvSpPr>
          <p:cNvPr id="5" name="garis"/>
          <p:cNvSpPr/>
          <p:nvPr/>
        </p:nvSpPr>
        <p:spPr>
          <a:xfrm>
            <a:off x="731520" y="1883664"/>
            <a:ext cx="10728655" cy="25603"/>
          </a:xfrm>
          <a:prstGeom prst="rect">
            <a:avLst/>
          </a:prstGeom>
          <a:solidFill>
            <a:srgbClr val="1E7A3C"/>
          </a:solidFill>
          <a:ln w="12700">
            <a:solidFill>
              <a:srgbClr val="1E7A3C"/>
            </a:solidFill>
            <a:prstDash val="solid"/>
          </a:ln>
        </p:spPr>
      </p:sp>
      <p:sp>
        <p:nvSpPr>
          <p:cNvPr id="6" name="bulatan-validasi"/>
          <p:cNvSpPr/>
          <p:nvPr/>
        </p:nvSpPr>
        <p:spPr>
          <a:xfrm>
            <a:off x="10710367" y="694944"/>
            <a:ext cx="749808" cy="749808"/>
          </a:xfrm>
          <a:prstGeom prst="ellipse">
            <a:avLst/>
          </a:prstGeom>
          <a:solidFill>
            <a:srgbClr val="E7F2EB"/>
          </a:solidFill>
          <a:ln w="12700">
            <a:solidFill>
              <a:srgbClr val="E7F2EB"/>
            </a:solidFill>
            <a:prstDash val="solid"/>
          </a:ln>
        </p:spPr>
      </p:sp>
      <p:pic>
        <p:nvPicPr>
          <p:cNvPr id="7" name="Image 0" descr="/home/claude/deck/assets/icons/valida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815" y="897392"/>
            <a:ext cx="344912" cy="344912"/>
          </a:xfrm>
          <a:prstGeom prst="rect">
            <a:avLst/>
          </a:prstGeom>
        </p:spPr>
      </p:pic>
      <p:sp>
        <p:nvSpPr>
          <p:cNvPr id="8" name="aturan-V-01"/>
          <p:cNvSpPr/>
          <p:nvPr/>
        </p:nvSpPr>
        <p:spPr>
          <a:xfrm>
            <a:off x="731520" y="2304288"/>
            <a:ext cx="10728655" cy="457200"/>
          </a:xfrm>
          <a:prstGeom prst="rect">
            <a:avLst/>
          </a:prstGeom>
          <a:solidFill>
            <a:srgbClr val="E7F2EB"/>
          </a:solidFill>
          <a:ln w="12700">
            <a:solidFill>
              <a:srgbClr val="E7F2EB"/>
            </a:solidFill>
            <a:prstDash val="solid"/>
          </a:ln>
        </p:spPr>
      </p:sp>
      <p:sp>
        <p:nvSpPr>
          <p:cNvPr id="9" name="tanda-V-01"/>
          <p:cNvSpPr/>
          <p:nvPr/>
        </p:nvSpPr>
        <p:spPr>
          <a:xfrm>
            <a:off x="731520" y="2304288"/>
            <a:ext cx="64008" cy="457200"/>
          </a:xfrm>
          <a:prstGeom prst="rect">
            <a:avLst/>
          </a:prstGeom>
          <a:solidFill>
            <a:srgbClr val="1E7A3C"/>
          </a:solidFill>
          <a:ln w="12700">
            <a:solidFill>
              <a:srgbClr val="1E7A3C"/>
            </a:solidFill>
            <a:prstDash val="solid"/>
          </a:ln>
        </p:spPr>
      </p:sp>
      <p:pic>
        <p:nvPicPr>
          <p:cNvPr id="10" name="Image 1" descr="/home/claude/deck/assets/icons/lol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42316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35024" y="23500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V-01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2194560" y="2350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Kode Wilayah tidak kosong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858000" y="2350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1 kosong — baris agregat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0180015" y="23500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LULUS</a:t>
            </a:r>
            <a:endParaRPr lang="en-US" sz="950" dirty="0"/>
          </a:p>
        </p:txBody>
      </p:sp>
      <p:sp>
        <p:nvSpPr>
          <p:cNvPr id="15" name="aturan-V-02"/>
          <p:cNvSpPr/>
          <p:nvPr/>
        </p:nvSpPr>
        <p:spPr>
          <a:xfrm>
            <a:off x="731520" y="2834640"/>
            <a:ext cx="10728655" cy="457200"/>
          </a:xfrm>
          <a:prstGeom prst="rect">
            <a:avLst/>
          </a:prstGeom>
          <a:solidFill>
            <a:srgbClr val="E7F2EB"/>
          </a:solidFill>
          <a:ln w="12700">
            <a:solidFill>
              <a:srgbClr val="E7F2EB"/>
            </a:solidFill>
            <a:prstDash val="solid"/>
          </a:ln>
        </p:spPr>
      </p:sp>
      <p:sp>
        <p:nvSpPr>
          <p:cNvPr id="16" name="tanda-V-02"/>
          <p:cNvSpPr/>
          <p:nvPr/>
        </p:nvSpPr>
        <p:spPr>
          <a:xfrm>
            <a:off x="731520" y="2834640"/>
            <a:ext cx="64008" cy="457200"/>
          </a:xfrm>
          <a:prstGeom prst="rect">
            <a:avLst/>
          </a:prstGeom>
          <a:solidFill>
            <a:srgbClr val="1E7A3C"/>
          </a:solidFill>
          <a:ln w="12700">
            <a:solidFill>
              <a:srgbClr val="1E7A3C"/>
            </a:solidFill>
            <a:prstDash val="solid"/>
          </a:ln>
        </p:spPr>
      </p:sp>
      <p:pic>
        <p:nvPicPr>
          <p:cNvPr id="17" name="Image 2" descr="/home/claude/deck/assets/icons/lol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95351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35024" y="2880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V-02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219456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Kode Wilayah unik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85800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0 duplikat dari 514 kode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0180015" y="2880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LULUS</a:t>
            </a:r>
            <a:endParaRPr lang="en-US" sz="950" dirty="0"/>
          </a:p>
        </p:txBody>
      </p:sp>
      <p:sp>
        <p:nvSpPr>
          <p:cNvPr id="22" name="aturan-V-03"/>
          <p:cNvSpPr/>
          <p:nvPr/>
        </p:nvSpPr>
        <p:spPr>
          <a:xfrm>
            <a:off x="731520" y="3364992"/>
            <a:ext cx="10728655" cy="457200"/>
          </a:xfrm>
          <a:prstGeom prst="rect">
            <a:avLst/>
          </a:prstGeom>
          <a:solidFill>
            <a:srgbClr val="E7F2EB"/>
          </a:solidFill>
          <a:ln w="12700">
            <a:solidFill>
              <a:srgbClr val="E7F2EB"/>
            </a:solidFill>
            <a:prstDash val="solid"/>
          </a:ln>
        </p:spPr>
      </p:sp>
      <p:sp>
        <p:nvSpPr>
          <p:cNvPr id="23" name="tanda-V-03"/>
          <p:cNvSpPr/>
          <p:nvPr/>
        </p:nvSpPr>
        <p:spPr>
          <a:xfrm>
            <a:off x="731520" y="3364992"/>
            <a:ext cx="64008" cy="457200"/>
          </a:xfrm>
          <a:prstGeom prst="rect">
            <a:avLst/>
          </a:prstGeom>
          <a:solidFill>
            <a:srgbClr val="1E7A3C"/>
          </a:solidFill>
          <a:ln w="12700">
            <a:solidFill>
              <a:srgbClr val="1E7A3C"/>
            </a:solidFill>
            <a:prstDash val="solid"/>
          </a:ln>
        </p:spPr>
      </p:sp>
      <p:pic>
        <p:nvPicPr>
          <p:cNvPr id="24" name="Image 3" descr="/home/claude/deck/assets/icons/lolo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48386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335024" y="34107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V-03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2194560" y="3410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Kode Wilayah 4 digit numerik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858000" y="34107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514 dari 514 sesuai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10180015" y="34107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LULUS</a:t>
            </a:r>
            <a:endParaRPr lang="en-US" sz="950" dirty="0"/>
          </a:p>
        </p:txBody>
      </p:sp>
      <p:sp>
        <p:nvSpPr>
          <p:cNvPr id="29" name="aturan-V-04"/>
          <p:cNvSpPr/>
          <p:nvPr/>
        </p:nvSpPr>
        <p:spPr>
          <a:xfrm>
            <a:off x="731520" y="3895344"/>
            <a:ext cx="10728655" cy="457200"/>
          </a:xfrm>
          <a:prstGeom prst="rect">
            <a:avLst/>
          </a:prstGeom>
          <a:solidFill>
            <a:srgbClr val="E7F2EB"/>
          </a:solidFill>
          <a:ln w="12700">
            <a:solidFill>
              <a:srgbClr val="E7F2EB"/>
            </a:solidFill>
            <a:prstDash val="solid"/>
          </a:ln>
        </p:spPr>
      </p:sp>
      <p:sp>
        <p:nvSpPr>
          <p:cNvPr id="30" name="tanda-V-04"/>
          <p:cNvSpPr/>
          <p:nvPr/>
        </p:nvSpPr>
        <p:spPr>
          <a:xfrm>
            <a:off x="731520" y="3895344"/>
            <a:ext cx="64008" cy="457200"/>
          </a:xfrm>
          <a:prstGeom prst="rect">
            <a:avLst/>
          </a:prstGeom>
          <a:solidFill>
            <a:srgbClr val="1E7A3C"/>
          </a:solidFill>
          <a:ln w="12700">
            <a:solidFill>
              <a:srgbClr val="1E7A3C"/>
            </a:solidFill>
            <a:prstDash val="solid"/>
          </a:ln>
        </p:spPr>
      </p:sp>
      <p:pic>
        <p:nvPicPr>
          <p:cNvPr id="31" name="Image 4" descr="/home/claude/deck/assets/icons/lolo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014216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335024" y="39410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V-04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2194560" y="39410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Nilai luas dapat dikonversi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6858000" y="39410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0 gagal dari 4.635 sel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10180015" y="3941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LULUS</a:t>
            </a:r>
            <a:endParaRPr lang="en-US" sz="950" dirty="0"/>
          </a:p>
        </p:txBody>
      </p:sp>
      <p:sp>
        <p:nvSpPr>
          <p:cNvPr id="36" name="aturan-V-05"/>
          <p:cNvSpPr/>
          <p:nvPr/>
        </p:nvSpPr>
        <p:spPr>
          <a:xfrm>
            <a:off x="731520" y="4425696"/>
            <a:ext cx="10728655" cy="457200"/>
          </a:xfrm>
          <a:prstGeom prst="rect">
            <a:avLst/>
          </a:prstGeom>
          <a:solidFill>
            <a:srgbClr val="E7F2EB"/>
          </a:solidFill>
          <a:ln w="12700">
            <a:solidFill>
              <a:srgbClr val="E7F2EB"/>
            </a:solidFill>
            <a:prstDash val="solid"/>
          </a:ln>
        </p:spPr>
      </p:sp>
      <p:sp>
        <p:nvSpPr>
          <p:cNvPr id="37" name="tanda-V-05"/>
          <p:cNvSpPr/>
          <p:nvPr/>
        </p:nvSpPr>
        <p:spPr>
          <a:xfrm>
            <a:off x="731520" y="4425696"/>
            <a:ext cx="64008" cy="457200"/>
          </a:xfrm>
          <a:prstGeom prst="rect">
            <a:avLst/>
          </a:prstGeom>
          <a:solidFill>
            <a:srgbClr val="1E7A3C"/>
          </a:solidFill>
          <a:ln w="12700">
            <a:solidFill>
              <a:srgbClr val="1E7A3C"/>
            </a:solidFill>
            <a:prstDash val="solid"/>
          </a:ln>
        </p:spPr>
      </p:sp>
      <p:pic>
        <p:nvPicPr>
          <p:cNvPr id="38" name="Image 5" descr="/home/claude/deck/assets/icons/lolo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4544568"/>
            <a:ext cx="219456" cy="219456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335024" y="447141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V-05</a:t>
            </a:r>
            <a:endParaRPr lang="en-US" sz="950" dirty="0"/>
          </a:p>
        </p:txBody>
      </p:sp>
      <p:sp>
        <p:nvSpPr>
          <p:cNvPr id="40" name="Text 32"/>
          <p:cNvSpPr txBox="1"/>
          <p:nvPr/>
        </p:nvSpPr>
        <p:spPr>
          <a:xfrm>
            <a:off x="2194560" y="44714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Luas tidak negatif</a:t>
            </a:r>
            <a:endParaRPr lang="en-US" sz="1300" dirty="0"/>
          </a:p>
        </p:txBody>
      </p:sp>
      <p:sp>
        <p:nvSpPr>
          <p:cNvPr id="41" name="Text 33"/>
          <p:cNvSpPr txBox="1"/>
          <p:nvPr/>
        </p:nvSpPr>
        <p:spPr>
          <a:xfrm>
            <a:off x="6858000" y="44714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0 nilai negatif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10180015" y="44714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LULUS</a:t>
            </a:r>
            <a:endParaRPr lang="en-US" sz="950" dirty="0"/>
          </a:p>
        </p:txBody>
      </p:sp>
      <p:sp>
        <p:nvSpPr>
          <p:cNvPr id="43" name="aturan-V-06"/>
          <p:cNvSpPr/>
          <p:nvPr/>
        </p:nvSpPr>
        <p:spPr>
          <a:xfrm>
            <a:off x="731520" y="4956048"/>
            <a:ext cx="10728655" cy="457200"/>
          </a:xfrm>
          <a:prstGeom prst="rect">
            <a:avLst/>
          </a:prstGeom>
          <a:solidFill>
            <a:srgbClr val="E7F2EB"/>
          </a:solidFill>
          <a:ln w="12700">
            <a:solidFill>
              <a:srgbClr val="E7F2EB"/>
            </a:solidFill>
            <a:prstDash val="solid"/>
          </a:ln>
        </p:spPr>
      </p:sp>
      <p:sp>
        <p:nvSpPr>
          <p:cNvPr id="44" name="tanda-V-06"/>
          <p:cNvSpPr/>
          <p:nvPr/>
        </p:nvSpPr>
        <p:spPr>
          <a:xfrm>
            <a:off x="731520" y="4956048"/>
            <a:ext cx="64008" cy="457200"/>
          </a:xfrm>
          <a:prstGeom prst="rect">
            <a:avLst/>
          </a:prstGeom>
          <a:solidFill>
            <a:srgbClr val="1E7A3C"/>
          </a:solidFill>
          <a:ln w="12700">
            <a:solidFill>
              <a:srgbClr val="1E7A3C"/>
            </a:solidFill>
            <a:prstDash val="solid"/>
          </a:ln>
        </p:spPr>
      </p:sp>
      <p:pic>
        <p:nvPicPr>
          <p:cNvPr id="45" name="Image 6" descr="/home/claude/deck/assets/icons/lolo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5074920"/>
            <a:ext cx="219456" cy="219456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1335024" y="50017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V-06</a:t>
            </a:r>
            <a:endParaRPr lang="en-US" sz="950" dirty="0"/>
          </a:p>
        </p:txBody>
      </p:sp>
      <p:sp>
        <p:nvSpPr>
          <p:cNvPr id="47" name="Text 38"/>
          <p:cNvSpPr txBox="1"/>
          <p:nvPr/>
        </p:nvSpPr>
        <p:spPr>
          <a:xfrm>
            <a:off x="2194560" y="5001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Dua digit awal kode provinsi sah</a:t>
            </a:r>
            <a:endParaRPr lang="en-US" sz="1300" dirty="0"/>
          </a:p>
        </p:txBody>
      </p:sp>
      <p:sp>
        <p:nvSpPr>
          <p:cNvPr id="48" name="Text 39"/>
          <p:cNvSpPr txBox="1"/>
          <p:nvPr/>
        </p:nvSpPr>
        <p:spPr>
          <a:xfrm>
            <a:off x="6858000" y="5001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514 terpetakan, 38 provinsi</a:t>
            </a:r>
            <a:endParaRPr lang="en-US" sz="1200" dirty="0"/>
          </a:p>
        </p:txBody>
      </p:sp>
      <p:sp>
        <p:nvSpPr>
          <p:cNvPr id="49" name="Text 40"/>
          <p:cNvSpPr txBox="1"/>
          <p:nvPr/>
        </p:nvSpPr>
        <p:spPr>
          <a:xfrm>
            <a:off x="10180015" y="5001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LULUS</a:t>
            </a:r>
            <a:endParaRPr lang="en-US" sz="950" dirty="0"/>
          </a:p>
        </p:txBody>
      </p:sp>
      <p:sp>
        <p:nvSpPr>
          <p:cNvPr id="50" name="aturan-V-07"/>
          <p:cNvSpPr/>
          <p:nvPr/>
        </p:nvSpPr>
        <p:spPr>
          <a:xfrm>
            <a:off x="731520" y="5486400"/>
            <a:ext cx="10728655" cy="457200"/>
          </a:xfrm>
          <a:prstGeom prst="rect">
            <a:avLst/>
          </a:prstGeom>
          <a:solidFill>
            <a:srgbClr val="FAE9E6"/>
          </a:solidFill>
          <a:ln w="12700">
            <a:solidFill>
              <a:srgbClr val="FAE9E6"/>
            </a:solidFill>
            <a:prstDash val="solid"/>
          </a:ln>
        </p:spPr>
      </p:sp>
      <p:sp>
        <p:nvSpPr>
          <p:cNvPr id="51" name="tanda-V-07"/>
          <p:cNvSpPr/>
          <p:nvPr/>
        </p:nvSpPr>
        <p:spPr>
          <a:xfrm>
            <a:off x="731520" y="5486400"/>
            <a:ext cx="64008" cy="457200"/>
          </a:xfrm>
          <a:prstGeom prst="rect">
            <a:avLst/>
          </a:prstGeom>
          <a:solidFill>
            <a:srgbClr val="C2321C"/>
          </a:solidFill>
          <a:ln w="12700">
            <a:solidFill>
              <a:srgbClr val="C2321C"/>
            </a:solidFill>
            <a:prstDash val="solid"/>
          </a:ln>
        </p:spPr>
      </p:sp>
      <p:pic>
        <p:nvPicPr>
          <p:cNvPr id="52" name="Image 7" descr="/home/claude/deck/assets/icons/gag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264" y="5605272"/>
            <a:ext cx="219456" cy="219456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1335024" y="5532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V-07</a:t>
            </a:r>
            <a:endParaRPr lang="en-US" sz="950" dirty="0"/>
          </a:p>
        </p:txBody>
      </p:sp>
      <p:sp>
        <p:nvSpPr>
          <p:cNvPr id="54" name="Text 44"/>
          <p:cNvSpPr txBox="1"/>
          <p:nvPr/>
        </p:nvSpPr>
        <p:spPr>
          <a:xfrm>
            <a:off x="2194560" y="5532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01D"/>
                </a:solidFill>
              </a:rPr>
              <a:t>Agregat sama dengan jumlah rinci</a:t>
            </a:r>
            <a:endParaRPr lang="en-US" sz="1300" dirty="0"/>
          </a:p>
        </p:txBody>
      </p:sp>
      <p:sp>
        <p:nvSpPr>
          <p:cNvPr id="55" name="Text 45"/>
          <p:cNvSpPr txBox="1"/>
          <p:nvPr/>
        </p:nvSpPr>
        <p:spPr>
          <a:xfrm>
            <a:off x="6858000" y="5532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321C"/>
                </a:solidFill>
              </a:rPr>
              <a:t>2023 selisih 154.657,05 ha</a:t>
            </a:r>
            <a:endParaRPr lang="en-US" sz="1200" dirty="0"/>
          </a:p>
        </p:txBody>
      </p:sp>
      <p:sp>
        <p:nvSpPr>
          <p:cNvPr id="56" name="Text 46"/>
          <p:cNvSpPr txBox="1"/>
          <p:nvPr/>
        </p:nvSpPr>
        <p:spPr>
          <a:xfrm>
            <a:off x="10180015" y="5532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C2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GAGAL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tar-temuan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E9E6"/>
          </a:solidFill>
          <a:ln w="12700">
            <a:solidFill>
              <a:srgbClr val="FAE9E6"/>
            </a:solidFill>
            <a:prstDash val="solid"/>
          </a:ln>
        </p:spPr>
      </p:sp>
      <p:sp>
        <p:nvSpPr>
          <p:cNvPr id="3" name="pita-temuan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C2321C"/>
          </a:solidFill>
          <a:ln w="12700">
            <a:solidFill>
              <a:srgbClr val="C2321C"/>
            </a:solidFill>
            <a:prstDash val="solid"/>
          </a:ln>
        </p:spPr>
      </p:sp>
      <p:sp>
        <p:nvSpPr>
          <p:cNvPr id="4" name="bulatan-peringatan"/>
          <p:cNvSpPr/>
          <p:nvPr/>
        </p:nvSpPr>
        <p:spPr>
          <a:xfrm>
            <a:off x="731520" y="786384"/>
            <a:ext cx="713232" cy="713232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5" name="Image 0" descr="/home/claude/deck/assets/icons/peringat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93" y="978957"/>
            <a:ext cx="328087" cy="3280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0058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C2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TEMUAN UTAMA  ·  ATURAN V-07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3736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spc="-250" kern="0" dirty="0">
                <a:solidFill>
                  <a:srgbClr val="C232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154.657,05</a:t>
            </a:r>
            <a:endParaRPr lang="en-US" sz="9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0896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hektare selisih yang belum terjelaskan</a:t>
            </a:r>
            <a:endParaRPr lang="en-US" sz="2100" dirty="0"/>
          </a:p>
        </p:txBody>
      </p:sp>
      <p:sp>
        <p:nvSpPr>
          <p:cNvPr id="9" name="garis"/>
          <p:cNvSpPr/>
          <p:nvPr/>
        </p:nvSpPr>
        <p:spPr>
          <a:xfrm>
            <a:off x="731520" y="3785616"/>
            <a:ext cx="6583680" cy="12802"/>
          </a:xfrm>
          <a:prstGeom prst="rect">
            <a:avLst/>
          </a:prstGeom>
          <a:solidFill>
            <a:srgbClr val="EFD9D3"/>
          </a:solidFill>
          <a:ln w="12700">
            <a:solidFill>
              <a:srgbClr val="EFD9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8587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06A"/>
                </a:solidFill>
              </a:rPr>
              <a:t>Baris agregat Total, 2023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3858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232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1.161.156,91 ha</a:t>
            </a:r>
            <a:endParaRPr lang="en-US" sz="1600" dirty="0"/>
          </a:p>
        </p:txBody>
      </p:sp>
      <p:sp>
        <p:nvSpPr>
          <p:cNvPr id="12" name="garis"/>
          <p:cNvSpPr/>
          <p:nvPr/>
        </p:nvSpPr>
        <p:spPr>
          <a:xfrm>
            <a:off x="731520" y="4334256"/>
            <a:ext cx="6583680" cy="12802"/>
          </a:xfrm>
          <a:prstGeom prst="rect">
            <a:avLst/>
          </a:prstGeom>
          <a:solidFill>
            <a:srgbClr val="EFD9D3"/>
          </a:solidFill>
          <a:ln w="12700">
            <a:solidFill>
              <a:srgbClr val="EFD9D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407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06A"/>
                </a:solidFill>
              </a:rPr>
              <a:t>Jumlah 514 baris kabupaten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4407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B2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1.006.499,86 ha</a:t>
            </a:r>
            <a:endParaRPr lang="en-US" sz="1600" dirty="0"/>
          </a:p>
        </p:txBody>
      </p:sp>
      <p:sp>
        <p:nvSpPr>
          <p:cNvPr id="15" name="garis"/>
          <p:cNvSpPr/>
          <p:nvPr/>
        </p:nvSpPr>
        <p:spPr>
          <a:xfrm>
            <a:off x="731520" y="4882896"/>
            <a:ext cx="6583680" cy="12802"/>
          </a:xfrm>
          <a:prstGeom prst="rect">
            <a:avLst/>
          </a:prstGeom>
          <a:solidFill>
            <a:srgbClr val="EFD9D3"/>
          </a:solidFill>
          <a:ln w="12700">
            <a:solidFill>
              <a:srgbClr val="EFD9D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49560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06A"/>
                </a:solidFill>
              </a:rPr>
              <a:t>Selisih terhadap angka publikasi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4956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232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13,3%</a:t>
            </a:r>
            <a:endParaRPr lang="en-US" sz="1600" dirty="0"/>
          </a:p>
        </p:txBody>
      </p:sp>
      <p:sp>
        <p:nvSpPr>
          <p:cNvPr id="18" name="garis"/>
          <p:cNvSpPr/>
          <p:nvPr/>
        </p:nvSpPr>
        <p:spPr>
          <a:xfrm>
            <a:off x="731520" y="5431536"/>
            <a:ext cx="6583680" cy="12802"/>
          </a:xfrm>
          <a:prstGeom prst="rect">
            <a:avLst/>
          </a:prstGeom>
          <a:solidFill>
            <a:srgbClr val="EFD9D3"/>
          </a:solidFill>
          <a:ln w="12700">
            <a:solidFill>
              <a:srgbClr val="EFD9D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5632704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232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Memaksa angka agar cocok akan menghapus jejak masalah tanpa menyelesaikannya.</a:t>
            </a:r>
            <a:endParaRPr lang="en-US" sz="1700" dirty="0"/>
          </a:p>
        </p:txBody>
      </p:sp>
      <p:sp>
        <p:nvSpPr>
          <p:cNvPr id="20" name="panel-tindak"/>
          <p:cNvSpPr/>
          <p:nvPr/>
        </p:nvSpPr>
        <p:spPr>
          <a:xfrm>
            <a:off x="7955280" y="822960"/>
            <a:ext cx="3504895" cy="5303520"/>
          </a:xfrm>
          <a:prstGeom prst="rect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0" y="10972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C2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TINDAK LANJUT YANG DIAMBIL</a:t>
            </a:r>
            <a:endParaRPr lang="en-US" sz="950" dirty="0"/>
          </a:p>
        </p:txBody>
      </p:sp>
      <p:sp>
        <p:nvSpPr>
          <p:cNvPr id="22" name="no-tindak"/>
          <p:cNvSpPr/>
          <p:nvPr/>
        </p:nvSpPr>
        <p:spPr>
          <a:xfrm>
            <a:off x="8229600" y="1572768"/>
            <a:ext cx="329184" cy="329184"/>
          </a:xfrm>
          <a:prstGeom prst="ellipse">
            <a:avLst/>
          </a:prstGeom>
          <a:solidFill>
            <a:srgbClr val="FAE9E6"/>
          </a:solidFill>
          <a:ln w="12700">
            <a:solidFill>
              <a:srgbClr val="FAE9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0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199339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1D"/>
                </a:solidFill>
              </a:rPr>
              <a:t>Dilaporkan ke walidata sebagai klarifikasi tertulis.</a:t>
            </a:r>
            <a:endParaRPr lang="en-US" sz="1250" dirty="0"/>
          </a:p>
        </p:txBody>
      </p:sp>
      <p:sp>
        <p:nvSpPr>
          <p:cNvPr id="25" name="no-tindak"/>
          <p:cNvSpPr/>
          <p:nvPr/>
        </p:nvSpPr>
        <p:spPr>
          <a:xfrm>
            <a:off x="8229600" y="2688336"/>
            <a:ext cx="329184" cy="329184"/>
          </a:xfrm>
          <a:prstGeom prst="ellipse">
            <a:avLst/>
          </a:prstGeom>
          <a:solidFill>
            <a:srgbClr val="FAE9E6"/>
          </a:solidFill>
          <a:ln w="12700">
            <a:solidFill>
              <a:srgbClr val="FAE9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310896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1D"/>
                </a:solidFill>
              </a:rPr>
              <a:t>Hipotesis: ada wilayah yang barisnya tidak terbawa.</a:t>
            </a:r>
            <a:endParaRPr lang="en-US" sz="1250" dirty="0"/>
          </a:p>
        </p:txBody>
      </p:sp>
      <p:sp>
        <p:nvSpPr>
          <p:cNvPr id="28" name="no-tindak"/>
          <p:cNvSpPr/>
          <p:nvPr/>
        </p:nvSpPr>
        <p:spPr>
          <a:xfrm>
            <a:off x="8229600" y="3803904"/>
            <a:ext cx="329184" cy="329184"/>
          </a:xfrm>
          <a:prstGeom prst="ellipse">
            <a:avLst/>
          </a:prstGeom>
          <a:solidFill>
            <a:srgbClr val="FAE9E6"/>
          </a:solidFill>
          <a:ln w="12700">
            <a:solidFill>
              <a:srgbClr val="FAE9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0" y="3803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0" y="422452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1D"/>
                </a:solidFill>
              </a:rPr>
              <a:t>Analisis memakai penjumlahan baris kabupaten.</a:t>
            </a:r>
            <a:endParaRPr lang="en-US" sz="1250" dirty="0"/>
          </a:p>
        </p:txBody>
      </p:sp>
      <p:sp>
        <p:nvSpPr>
          <p:cNvPr id="31" name="no-tindak"/>
          <p:cNvSpPr/>
          <p:nvPr/>
        </p:nvSpPr>
        <p:spPr>
          <a:xfrm>
            <a:off x="8229600" y="4919472"/>
            <a:ext cx="329184" cy="329184"/>
          </a:xfrm>
          <a:prstGeom prst="ellipse">
            <a:avLst/>
          </a:prstGeom>
          <a:solidFill>
            <a:srgbClr val="FAE9E6"/>
          </a:solidFill>
          <a:ln w="12700">
            <a:solidFill>
              <a:srgbClr val="FAE9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0" y="4919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0" y="534009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1D"/>
                </a:solidFill>
              </a:rPr>
              <a:t>Aturan V-07 dipasang permanen di pipeline.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08</a:t>
            </a:r>
            <a:pPr algn="l" indent="0" marL="0">
              <a:buNone/>
            </a:pPr>
            <a:r>
              <a:rPr lang="en-US" sz="1000" b="1" spc="25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J.62DMI00.007.1  ·  MENENTUKAN OBJEK DATA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694944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01D"/>
                </a:solidFill>
              </a:rPr>
              <a:t>Satu kabupaten, satu tahun, satu baris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54480"/>
            <a:ext cx="97228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5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Granularitas ditetapkan lebih dulu — itu yang mengeluarkan baris Total.</a:t>
            </a:r>
            <a:endParaRPr lang="en-US" sz="1350" dirty="0"/>
          </a:p>
        </p:txBody>
      </p:sp>
      <p:sp>
        <p:nvSpPr>
          <p:cNvPr id="5" name="garis"/>
          <p:cNvSpPr/>
          <p:nvPr/>
        </p:nvSpPr>
        <p:spPr>
          <a:xfrm>
            <a:off x="731520" y="1883664"/>
            <a:ext cx="10728655" cy="25603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bulatan-objek"/>
          <p:cNvSpPr/>
          <p:nvPr/>
        </p:nvSpPr>
        <p:spPr>
          <a:xfrm>
            <a:off x="10710367" y="694944"/>
            <a:ext cx="749808" cy="749808"/>
          </a:xfrm>
          <a:prstGeom prst="ellipse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pic>
        <p:nvPicPr>
          <p:cNvPr id="7" name="Image 0" descr="/home/claude/deck/assets/icons/obj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815" y="897392"/>
            <a:ext cx="344912" cy="344912"/>
          </a:xfrm>
          <a:prstGeom prst="rect">
            <a:avLst/>
          </a:prstGeom>
        </p:spPr>
      </p:pic>
      <p:sp>
        <p:nvSpPr>
          <p:cNvPr id="8" name="ent-dim_wilayah"/>
          <p:cNvSpPr/>
          <p:nvPr/>
        </p:nvSpPr>
        <p:spPr>
          <a:xfrm>
            <a:off x="731520" y="2267712"/>
            <a:ext cx="2286000" cy="822960"/>
          </a:xfrm>
          <a:prstGeom prst="rect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sp>
        <p:nvSpPr>
          <p:cNvPr id="9" name="enttanda-dim_wilayah"/>
          <p:cNvSpPr/>
          <p:nvPr/>
        </p:nvSpPr>
        <p:spPr>
          <a:xfrm>
            <a:off x="731520" y="2267712"/>
            <a:ext cx="2286000" cy="64008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245059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dim_wilayah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274320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06A"/>
                </a:solidFill>
              </a:rPr>
              <a:t>514 baris · kode_kab</a:t>
            </a:r>
            <a:endParaRPr lang="en-US" sz="1100" dirty="0"/>
          </a:p>
        </p:txBody>
      </p:sp>
      <p:sp>
        <p:nvSpPr>
          <p:cNvPr id="12" name="ent-dim_tahun"/>
          <p:cNvSpPr/>
          <p:nvPr/>
        </p:nvSpPr>
        <p:spPr>
          <a:xfrm>
            <a:off x="4663440" y="2267712"/>
            <a:ext cx="2286000" cy="822960"/>
          </a:xfrm>
          <a:prstGeom prst="rect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sp>
        <p:nvSpPr>
          <p:cNvPr id="13" name="enttanda-dim_tahun"/>
          <p:cNvSpPr/>
          <p:nvPr/>
        </p:nvSpPr>
        <p:spPr>
          <a:xfrm>
            <a:off x="4663440" y="2267712"/>
            <a:ext cx="2286000" cy="64008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64608" y="245059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dim_tahun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864608" y="274320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06A"/>
                </a:solidFill>
              </a:rPr>
              <a:t>9 baris · tahun</a:t>
            </a:r>
            <a:endParaRPr lang="en-US" sz="1100" dirty="0"/>
          </a:p>
        </p:txBody>
      </p:sp>
      <p:sp>
        <p:nvSpPr>
          <p:cNvPr id="16" name="ent-fakta_karhutla"/>
          <p:cNvSpPr/>
          <p:nvPr/>
        </p:nvSpPr>
        <p:spPr>
          <a:xfrm>
            <a:off x="2560320" y="3493008"/>
            <a:ext cx="2651760" cy="960120"/>
          </a:xfrm>
          <a:prstGeom prst="rect">
            <a:avLst/>
          </a:prstGeom>
          <a:solidFill>
            <a:srgbClr val="FDEDE6"/>
          </a:solidFill>
          <a:ln w="12700">
            <a:solidFill>
              <a:srgbClr val="FDEDE6"/>
            </a:solidFill>
            <a:prstDash val="solid"/>
          </a:ln>
        </p:spPr>
      </p:sp>
      <p:sp>
        <p:nvSpPr>
          <p:cNvPr id="17" name="enttanda-fakta_karhutla"/>
          <p:cNvSpPr/>
          <p:nvPr/>
        </p:nvSpPr>
        <p:spPr>
          <a:xfrm>
            <a:off x="2560320" y="3493008"/>
            <a:ext cx="2651760" cy="64008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761488" y="367588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fakta_karhutla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2761488" y="396849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06A"/>
                </a:solidFill>
              </a:rPr>
              <a:t>4.626 baris · kunci gabungan</a:t>
            </a:r>
            <a:endParaRPr lang="en-US" sz="1100" dirty="0"/>
          </a:p>
        </p:txBody>
      </p:sp>
      <p:sp>
        <p:nvSpPr>
          <p:cNvPr id="20" name="ent-audit_agregat"/>
          <p:cNvSpPr/>
          <p:nvPr/>
        </p:nvSpPr>
        <p:spPr>
          <a:xfrm>
            <a:off x="2560320" y="4864608"/>
            <a:ext cx="2651760" cy="822960"/>
          </a:xfrm>
          <a:prstGeom prst="rect">
            <a:avLst/>
          </a:prstGeom>
          <a:solidFill>
            <a:srgbClr val="FAE9E6"/>
          </a:solidFill>
          <a:ln w="12700">
            <a:solidFill>
              <a:srgbClr val="FAE9E6"/>
            </a:solidFill>
            <a:prstDash val="solid"/>
          </a:ln>
        </p:spPr>
      </p:sp>
      <p:sp>
        <p:nvSpPr>
          <p:cNvPr id="21" name="enttanda-audit_agregat"/>
          <p:cNvSpPr/>
          <p:nvPr/>
        </p:nvSpPr>
        <p:spPr>
          <a:xfrm>
            <a:off x="2560320" y="4864608"/>
            <a:ext cx="2651760" cy="64008"/>
          </a:xfrm>
          <a:prstGeom prst="rect">
            <a:avLst/>
          </a:prstGeom>
          <a:solidFill>
            <a:srgbClr val="C2321C"/>
          </a:solidFill>
          <a:ln w="12700">
            <a:solidFill>
              <a:srgbClr val="C2321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761488" y="504748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3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audit_agregat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2761488" y="534009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06A"/>
                </a:solidFill>
              </a:rPr>
              <a:t>9 baris · di luar model</a:t>
            </a:r>
            <a:endParaRPr lang="en-US" sz="1100" dirty="0"/>
          </a:p>
        </p:txBody>
      </p:sp>
      <p:sp>
        <p:nvSpPr>
          <p:cNvPr id="24" name="garis-tegak"/>
          <p:cNvSpPr/>
          <p:nvPr/>
        </p:nvSpPr>
        <p:spPr>
          <a:xfrm>
            <a:off x="1874520" y="3090672"/>
            <a:ext cx="12802" cy="548640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5" name="garis"/>
          <p:cNvSpPr/>
          <p:nvPr/>
        </p:nvSpPr>
        <p:spPr>
          <a:xfrm>
            <a:off x="1874520" y="3639312"/>
            <a:ext cx="713232" cy="12802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garis-tegak"/>
          <p:cNvSpPr/>
          <p:nvPr/>
        </p:nvSpPr>
        <p:spPr>
          <a:xfrm>
            <a:off x="5806440" y="3090672"/>
            <a:ext cx="12802" cy="548640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7" name="garis"/>
          <p:cNvSpPr/>
          <p:nvPr/>
        </p:nvSpPr>
        <p:spPr>
          <a:xfrm>
            <a:off x="5193792" y="3639312"/>
            <a:ext cx="621792" cy="12802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8" name="garis-tegak"/>
          <p:cNvSpPr/>
          <p:nvPr/>
        </p:nvSpPr>
        <p:spPr>
          <a:xfrm>
            <a:off x="3886200" y="4453128"/>
            <a:ext cx="12802" cy="411480"/>
          </a:xfrm>
          <a:prstGeom prst="rect">
            <a:avLst/>
          </a:prstGeom>
          <a:solidFill>
            <a:srgbClr val="C2321C"/>
          </a:solidFill>
          <a:ln w="12700">
            <a:solidFill>
              <a:srgbClr val="C2321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096512" y="45354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C23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REKONSILIASI V-07</a:t>
            </a:r>
            <a:endParaRPr lang="en-US" sz="950" dirty="0"/>
          </a:p>
        </p:txBody>
      </p:sp>
      <p:sp>
        <p:nvSpPr>
          <p:cNvPr id="30" name="garis-tegak"/>
          <p:cNvSpPr/>
          <p:nvPr/>
        </p:nvSpPr>
        <p:spPr>
          <a:xfrm>
            <a:off x="7406640" y="2267712"/>
            <a:ext cx="12802" cy="3657600"/>
          </a:xfrm>
          <a:prstGeom prst="rect">
            <a:avLst/>
          </a:prstGeom>
          <a:solidFill>
            <a:srgbClr val="E2E5DE"/>
          </a:solidFill>
          <a:ln w="12700">
            <a:solidFill>
              <a:srgbClr val="E2E5D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72400" y="22677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1F5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KEPUTUSAN PENETAPAN</a:t>
            </a:r>
            <a:endParaRPr lang="en-US" sz="950" dirty="0"/>
          </a:p>
        </p:txBody>
      </p:sp>
      <p:sp>
        <p:nvSpPr>
          <p:cNvPr id="32" name="bulatan-kunci"/>
          <p:cNvSpPr/>
          <p:nvPr/>
        </p:nvSpPr>
        <p:spPr>
          <a:xfrm>
            <a:off x="7772400" y="2706624"/>
            <a:ext cx="457200" cy="457200"/>
          </a:xfrm>
          <a:prstGeom prst="ellipse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pic>
        <p:nvPicPr>
          <p:cNvPr id="33" name="Image 1" descr="/home/claude/deck/assets/icons/kun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844" y="2830068"/>
            <a:ext cx="210312" cy="21031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8375904" y="270662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1D"/>
                </a:solidFill>
              </a:rPr>
              <a:t>Kunci memakai kode, bukan nama</a:t>
            </a:r>
            <a:endParaRPr lang="en-US" sz="1350" dirty="0"/>
          </a:p>
        </p:txBody>
      </p:sp>
      <p:sp>
        <p:nvSpPr>
          <p:cNvPr id="35" name="bulatan-objek"/>
          <p:cNvSpPr/>
          <p:nvPr/>
        </p:nvSpPr>
        <p:spPr>
          <a:xfrm>
            <a:off x="7772400" y="3547872"/>
            <a:ext cx="457200" cy="457200"/>
          </a:xfrm>
          <a:prstGeom prst="ellipse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pic>
        <p:nvPicPr>
          <p:cNvPr id="36" name="Image 2" descr="/home/claude/deck/assets/icons/obje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844" y="3671316"/>
            <a:ext cx="210312" cy="210312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8375904" y="354787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1D"/>
                </a:solidFill>
              </a:rPr>
              <a:t>Bentuk long, bukan wide</a:t>
            </a:r>
            <a:endParaRPr lang="en-US" sz="1350" dirty="0"/>
          </a:p>
        </p:txBody>
      </p:sp>
      <p:sp>
        <p:nvSpPr>
          <p:cNvPr id="38" name="bulatan-peta"/>
          <p:cNvSpPr/>
          <p:nvPr/>
        </p:nvSpPr>
        <p:spPr>
          <a:xfrm>
            <a:off x="7772400" y="4389120"/>
            <a:ext cx="457200" cy="457200"/>
          </a:xfrm>
          <a:prstGeom prst="ellipse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pic>
        <p:nvPicPr>
          <p:cNvPr id="39" name="Image 3" descr="/home/claude/deck/assets/icons/p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5844" y="4512564"/>
            <a:ext cx="210312" cy="210312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8375904" y="438912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1D"/>
                </a:solidFill>
              </a:rPr>
              <a:t>Provinsi turunan dari kode</a:t>
            </a:r>
            <a:endParaRPr lang="en-US" sz="1350" dirty="0"/>
          </a:p>
        </p:txBody>
      </p:sp>
      <p:sp>
        <p:nvSpPr>
          <p:cNvPr id="41" name="bulatan-peringatan"/>
          <p:cNvSpPr/>
          <p:nvPr/>
        </p:nvSpPr>
        <p:spPr>
          <a:xfrm>
            <a:off x="7772400" y="5230368"/>
            <a:ext cx="457200" cy="457200"/>
          </a:xfrm>
          <a:prstGeom prst="ellipse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pic>
        <p:nvPicPr>
          <p:cNvPr id="42" name="Image 4" descr="/home/claude/deck/assets/icons/peringat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5844" y="5353812"/>
            <a:ext cx="210312" cy="210312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8375904" y="523036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1D"/>
                </a:solidFill>
              </a:rPr>
              <a:t>Baris agregat disimpan</a:t>
            </a:r>
            <a:endParaRPr lang="en-US" sz="1350" dirty="0"/>
          </a:p>
        </p:txBody>
      </p:sp>
      <p:sp>
        <p:nvSpPr>
          <p:cNvPr id="44" name="garis"/>
          <p:cNvSpPr/>
          <p:nvPr/>
        </p:nvSpPr>
        <p:spPr>
          <a:xfrm>
            <a:off x="731520" y="5870448"/>
            <a:ext cx="10728655" cy="12802"/>
          </a:xfrm>
          <a:prstGeom prst="rect">
            <a:avLst/>
          </a:prstGeom>
          <a:solidFill>
            <a:srgbClr val="E2E5DE"/>
          </a:solidFill>
          <a:ln w="12700">
            <a:solidFill>
              <a:srgbClr val="E2E5DE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731520" y="6016752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5706A"/>
                </a:solidFill>
              </a:rPr>
              <a:t>Kamus data fakta_karhutla — kode_kab string(4)  ·  tahun integer  ·  luas_ha decimal(12,2) ≥ 0 dalam hektare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9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08</a:t>
            </a:r>
            <a:pPr algn="l" indent="0" marL="0">
              <a:buNone/>
            </a:pPr>
            <a:r>
              <a:rPr lang="en-US" sz="1000" b="1" spc="25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J.62DMI00.008.1  ·  MEMBERSIHKAN DATA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694944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01D"/>
                </a:solidFill>
              </a:rPr>
              <a:t>Enam keputusan, nol nilai luas yang hilang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54480"/>
            <a:ext cx="97228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5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 × 11 sel teks menjadi 4.626 baris numerik — totalnya tetap sama.</a:t>
            </a:r>
            <a:endParaRPr lang="en-US" sz="1350" dirty="0"/>
          </a:p>
        </p:txBody>
      </p:sp>
      <p:sp>
        <p:nvSpPr>
          <p:cNvPr id="5" name="garis"/>
          <p:cNvSpPr/>
          <p:nvPr/>
        </p:nvSpPr>
        <p:spPr>
          <a:xfrm>
            <a:off x="731520" y="1883664"/>
            <a:ext cx="10728655" cy="25603"/>
          </a:xfrm>
          <a:prstGeom prst="rect">
            <a:avLst/>
          </a:prstGeom>
          <a:solidFill>
            <a:srgbClr val="C98500"/>
          </a:solidFill>
          <a:ln w="12700">
            <a:solidFill>
              <a:srgbClr val="C98500"/>
            </a:solidFill>
            <a:prstDash val="solid"/>
          </a:ln>
        </p:spPr>
      </p:sp>
      <p:sp>
        <p:nvSpPr>
          <p:cNvPr id="6" name="bulatan-bersih"/>
          <p:cNvSpPr/>
          <p:nvPr/>
        </p:nvSpPr>
        <p:spPr>
          <a:xfrm>
            <a:off x="10710367" y="694944"/>
            <a:ext cx="749808" cy="749808"/>
          </a:xfrm>
          <a:prstGeom prst="ellipse">
            <a:avLst/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pic>
        <p:nvPicPr>
          <p:cNvPr id="7" name="Image 0" descr="/home/claude/deck/assets/icons/bersi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815" y="897392"/>
            <a:ext cx="344912" cy="344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1762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UKURAN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21762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SEBELUM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1762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SESUDAH</a:t>
            </a:r>
            <a:endParaRPr lang="en-US" sz="950" dirty="0"/>
          </a:p>
        </p:txBody>
      </p:sp>
      <p:sp>
        <p:nvSpPr>
          <p:cNvPr id="11" name="strip-0"/>
          <p:cNvSpPr/>
          <p:nvPr/>
        </p:nvSpPr>
        <p:spPr>
          <a:xfrm>
            <a:off x="731520" y="2468880"/>
            <a:ext cx="10728655" cy="384048"/>
          </a:xfrm>
          <a:prstGeom prst="rect">
            <a:avLst/>
          </a:prstGeom>
          <a:solidFill>
            <a:srgbClr val="F6F4EE"/>
          </a:solidFill>
          <a:ln w="12700">
            <a:solidFill>
              <a:srgbClr val="F6F4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" y="2496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06A"/>
                </a:solidFill>
              </a:rPr>
              <a:t>Bentuk tabel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24963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9D96"/>
                </a:solidFill>
              </a:rPr>
              <a:t>Wide, 515 × 11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516368" y="249631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7A3C"/>
                </a:solidFill>
              </a:rPr>
              <a:t>→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24963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01D"/>
                </a:solidFill>
              </a:rPr>
              <a:t>Long, 4.626 × 5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41248" y="28986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06A"/>
                </a:solidFill>
              </a:rPr>
              <a:t>Baris kabupaten/kota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28986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9D96"/>
                </a:solidFill>
              </a:rPr>
              <a:t>515, termasuk agregat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516368" y="28986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7A3C"/>
                </a:solidFill>
              </a:rPr>
              <a:t>→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863840" y="28986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01D"/>
                </a:solidFill>
              </a:rPr>
              <a:t>514</a:t>
            </a:r>
            <a:endParaRPr lang="en-US" sz="1250" dirty="0"/>
          </a:p>
        </p:txBody>
      </p:sp>
      <p:sp>
        <p:nvSpPr>
          <p:cNvPr id="20" name="strip-2"/>
          <p:cNvSpPr/>
          <p:nvPr/>
        </p:nvSpPr>
        <p:spPr>
          <a:xfrm>
            <a:off x="731520" y="3273552"/>
            <a:ext cx="10728655" cy="384048"/>
          </a:xfrm>
          <a:prstGeom prst="rect">
            <a:avLst/>
          </a:prstGeom>
          <a:solidFill>
            <a:srgbClr val="F6F4EE"/>
          </a:solidFill>
          <a:ln w="12700">
            <a:solidFill>
              <a:srgbClr val="F6F4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" y="3300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06A"/>
                </a:solidFill>
              </a:rPr>
              <a:t>Tipe kolom luas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33009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9D96"/>
                </a:solidFill>
              </a:rPr>
              <a:t>object (teks)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7516368" y="33009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7A3C"/>
                </a:solidFill>
              </a:rPr>
              <a:t>→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7863840" y="33009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01D"/>
                </a:solidFill>
              </a:rPr>
              <a:t>float64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41248" y="37033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06A"/>
                </a:solidFill>
              </a:rPr>
              <a:t>Nilai kosong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846320" y="37033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9D96"/>
                </a:solidFill>
              </a:rPr>
              <a:t>1 — Kode Wilayah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7516368" y="370332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7A3C"/>
                </a:solidFill>
              </a:rPr>
              <a:t>→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7863840" y="37033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01D"/>
                </a:solidFill>
              </a:rPr>
              <a:t>0</a:t>
            </a:r>
            <a:endParaRPr lang="en-US" sz="1250" dirty="0"/>
          </a:p>
        </p:txBody>
      </p:sp>
      <p:sp>
        <p:nvSpPr>
          <p:cNvPr id="29" name="strip-4"/>
          <p:cNvSpPr/>
          <p:nvPr/>
        </p:nvSpPr>
        <p:spPr>
          <a:xfrm>
            <a:off x="731520" y="4078224"/>
            <a:ext cx="10728655" cy="384048"/>
          </a:xfrm>
          <a:prstGeom prst="rect">
            <a:avLst/>
          </a:prstGeom>
          <a:solidFill>
            <a:srgbClr val="F6F4EE"/>
          </a:solidFill>
          <a:ln w="12700">
            <a:solidFill>
              <a:srgbClr val="F6F4E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1248" y="41056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06A"/>
                </a:solidFill>
              </a:rPr>
              <a:t>Nama daerah tidak baku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846320" y="41056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9D96"/>
                </a:solidFill>
              </a:rPr>
              <a:t>1 — KOTA BANDA  ACEH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7516368" y="410565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7A3C"/>
                </a:solidFill>
              </a:rPr>
              <a:t>→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7863840" y="410565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01D"/>
                </a:solidFill>
              </a:rPr>
              <a:t>0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841248" y="45079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06A"/>
                </a:solidFill>
              </a:rPr>
              <a:t>Kolom provinsi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4846320" y="45079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9D96"/>
                </a:solidFill>
              </a:rPr>
              <a:t>Tidak ada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7516368" y="450799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7A3C"/>
                </a:solidFill>
              </a:rPr>
              <a:t>→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7863840" y="45079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01D"/>
                </a:solidFill>
              </a:rPr>
              <a:t>Ada — 38 provinsi</a:t>
            </a:r>
            <a:endParaRPr lang="en-US" sz="1250" dirty="0"/>
          </a:p>
        </p:txBody>
      </p:sp>
      <p:sp>
        <p:nvSpPr>
          <p:cNvPr id="38" name="strip-6"/>
          <p:cNvSpPr/>
          <p:nvPr/>
        </p:nvSpPr>
        <p:spPr>
          <a:xfrm>
            <a:off x="731520" y="4882896"/>
            <a:ext cx="10728655" cy="384048"/>
          </a:xfrm>
          <a:prstGeom prst="rect">
            <a:avLst/>
          </a:prstGeom>
          <a:solidFill>
            <a:srgbClr val="F6F4EE"/>
          </a:solidFill>
          <a:ln w="12700">
            <a:solidFill>
              <a:srgbClr val="F6F4E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41248" y="49103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06A"/>
                </a:solidFill>
              </a:rPr>
              <a:t>Penanda kelengkapan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4846320" y="49103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9D96"/>
                </a:solidFill>
              </a:rPr>
              <a:t>Tidak ada</a:t>
            </a:r>
            <a:endParaRPr lang="en-US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7516368" y="491032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7A3C"/>
                </a:solidFill>
              </a:rPr>
              <a:t>→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7863840" y="49103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01D"/>
                </a:solidFill>
              </a:rPr>
              <a:t>8 lengkap + 1 parsial</a:t>
            </a:r>
            <a:endParaRPr lang="en-US" sz="1250" dirty="0"/>
          </a:p>
        </p:txBody>
      </p:sp>
      <p:sp>
        <p:nvSpPr>
          <p:cNvPr id="43" name="uji-penutup"/>
          <p:cNvSpPr/>
          <p:nvPr/>
        </p:nvSpPr>
        <p:spPr>
          <a:xfrm>
            <a:off x="731520" y="5340096"/>
            <a:ext cx="10728655" cy="457200"/>
          </a:xfrm>
          <a:prstGeom prst="rect">
            <a:avLst/>
          </a:prstGeom>
          <a:solidFill>
            <a:srgbClr val="E7F2EB"/>
          </a:solidFill>
          <a:ln w="12700">
            <a:solidFill>
              <a:srgbClr val="E7F2EB"/>
            </a:solidFill>
            <a:prstDash val="solid"/>
          </a:ln>
        </p:spPr>
      </p:sp>
      <p:pic>
        <p:nvPicPr>
          <p:cNvPr id="44" name="Image 1" descr="/home/claude/deck/assets/icons/lol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458968"/>
            <a:ext cx="219456" cy="219456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1280160" y="5385816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1D"/>
                </a:solidFill>
              </a:rPr>
              <a:t>Uji penutup — total nasional 2025 identik: </a:t>
            </a:r>
            <a:pPr indent="0" marL="0">
              <a:buNone/>
            </a:pPr>
            <a:r>
              <a:rPr lang="en-US" sz="1300" b="1" dirty="0">
                <a:solidFill>
                  <a:srgbClr val="1E7A3C"/>
                </a:solidFill>
              </a:rPr>
              <a:t>359.619,35 ha sebelum dan sesudah</a:t>
            </a:r>
            <a:endParaRPr lang="en-US" sz="1300" dirty="0"/>
          </a:p>
        </p:txBody>
      </p:sp>
      <p:sp>
        <p:nvSpPr>
          <p:cNvPr id="46" name="Text 42"/>
          <p:cNvSpPr txBox="1"/>
          <p:nvPr/>
        </p:nvSpPr>
        <p:spPr>
          <a:xfrm>
            <a:off x="731520" y="60533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SENGAJA TIDAK DIUBAH</a:t>
            </a:r>
            <a:endParaRPr lang="en-US" sz="950" dirty="0"/>
          </a:p>
        </p:txBody>
      </p:sp>
      <p:sp>
        <p:nvSpPr>
          <p:cNvPr id="47" name="Text 43"/>
          <p:cNvSpPr txBox="1"/>
          <p:nvPr/>
        </p:nvSpPr>
        <p:spPr>
          <a:xfrm>
            <a:off x="731520" y="6309360"/>
            <a:ext cx="24078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500"/>
                </a:solidFill>
              </a:rPr>
              <a:t>1.266 nilai 0</a:t>
            </a:r>
            <a:endParaRPr lang="en-US" sz="1250" dirty="0"/>
          </a:p>
        </p:txBody>
      </p:sp>
      <p:sp>
        <p:nvSpPr>
          <p:cNvPr id="48" name="Text 44"/>
          <p:cNvSpPr txBox="1"/>
          <p:nvPr/>
        </p:nvSpPr>
        <p:spPr>
          <a:xfrm>
            <a:off x="731520" y="6547104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5706A"/>
                </a:solidFill>
              </a:rPr>
              <a:t>Umumnya kota tanpa lahan terbuka.</a:t>
            </a:r>
            <a:endParaRPr lang="en-US" sz="1050" dirty="0"/>
          </a:p>
        </p:txBody>
      </p:sp>
      <p:sp>
        <p:nvSpPr>
          <p:cNvPr id="49" name="Text 45"/>
          <p:cNvSpPr txBox="1"/>
          <p:nvPr/>
        </p:nvSpPr>
        <p:spPr>
          <a:xfrm>
            <a:off x="3413684" y="6309360"/>
            <a:ext cx="24078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500"/>
                </a:solidFill>
              </a:rPr>
              <a:t>758 nilai di atas IQR</a:t>
            </a:r>
            <a:endParaRPr lang="en-US" sz="1250" dirty="0"/>
          </a:p>
        </p:txBody>
      </p:sp>
      <p:sp>
        <p:nvSpPr>
          <p:cNvPr id="50" name="Text 46"/>
          <p:cNvSpPr txBox="1"/>
          <p:nvPr/>
        </p:nvSpPr>
        <p:spPr>
          <a:xfrm>
            <a:off x="3413684" y="6547104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5706A"/>
                </a:solidFill>
              </a:rPr>
              <a:t>Nilai ekstrem = peristiwa nyata.</a:t>
            </a:r>
            <a:endParaRPr lang="en-US" sz="1050" dirty="0"/>
          </a:p>
        </p:txBody>
      </p:sp>
      <p:sp>
        <p:nvSpPr>
          <p:cNvPr id="51" name="Text 47"/>
          <p:cNvSpPr txBox="1"/>
          <p:nvPr/>
        </p:nvSpPr>
        <p:spPr>
          <a:xfrm>
            <a:off x="6095848" y="6309360"/>
            <a:ext cx="24078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500"/>
                </a:solidFill>
              </a:rPr>
              <a:t>Selisih 2023</a:t>
            </a:r>
            <a:endParaRPr lang="en-US" sz="1250" dirty="0"/>
          </a:p>
        </p:txBody>
      </p:sp>
      <p:sp>
        <p:nvSpPr>
          <p:cNvPr id="52" name="Text 48"/>
          <p:cNvSpPr txBox="1"/>
          <p:nvPr/>
        </p:nvSpPr>
        <p:spPr>
          <a:xfrm>
            <a:off x="6095848" y="6547104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5706A"/>
                </a:solidFill>
              </a:rPr>
              <a:t>Tidak dipaksa cocok.</a:t>
            </a:r>
            <a:endParaRPr lang="en-US" sz="1050" dirty="0"/>
          </a:p>
        </p:txBody>
      </p:sp>
      <p:sp>
        <p:nvSpPr>
          <p:cNvPr id="53" name="Text 49"/>
          <p:cNvSpPr txBox="1"/>
          <p:nvPr/>
        </p:nvSpPr>
        <p:spPr>
          <a:xfrm>
            <a:off x="8778011" y="6309360"/>
            <a:ext cx="24078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500"/>
                </a:solidFill>
              </a:rPr>
              <a:t>Nilai 2026</a:t>
            </a:r>
            <a:endParaRPr lang="en-US" sz="1250" dirty="0"/>
          </a:p>
        </p:txBody>
      </p:sp>
      <p:sp>
        <p:nvSpPr>
          <p:cNvPr id="54" name="Text 50"/>
          <p:cNvSpPr txBox="1"/>
          <p:nvPr/>
        </p:nvSpPr>
        <p:spPr>
          <a:xfrm>
            <a:off x="8778011" y="6547104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5706A"/>
                </a:solidFill>
              </a:rPr>
              <a:t>Diberi penanda parsial.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tar-pembat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1887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FFFFF">
                    <a:alpha val="28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4000" dirty="0"/>
          </a:p>
        </p:txBody>
      </p:sp>
      <p:sp>
        <p:nvSpPr>
          <p:cNvPr id="4" name="bulatan-bi"/>
          <p:cNvSpPr/>
          <p:nvPr/>
        </p:nvSpPr>
        <p:spPr>
          <a:xfrm>
            <a:off x="9722815" y="1371600"/>
            <a:ext cx="1737360" cy="1737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deck/assets/icons/b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8303" y="1847088"/>
            <a:ext cx="786384" cy="7863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TIGA  ·  UNIT 8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840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80" kern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Business intelligence dan rekomendasi</a:t>
            </a:r>
            <a:endParaRPr lang="en-US" sz="3800" dirty="0"/>
          </a:p>
        </p:txBody>
      </p:sp>
      <p:sp>
        <p:nvSpPr>
          <p:cNvPr id="8" name="garis-pembatas"/>
          <p:cNvSpPr/>
          <p:nvPr/>
        </p:nvSpPr>
        <p:spPr>
          <a:xfrm>
            <a:off x="731520" y="4901184"/>
            <a:ext cx="402336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138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Dashboard Power BI di atas model bintang, dengan satu halaman khusus untuk kualitas data.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25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08</a:t>
            </a:r>
            <a:pPr algn="l" indent="0" marL="0">
              <a:buNone/>
            </a:pPr>
            <a:r>
              <a:rPr lang="en-US" sz="1000" b="1" spc="25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J.62DMS00.015.1  ·  MEMBUAT BUSINESS INTELLIGENCE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694944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01D"/>
                </a:solidFill>
              </a:rPr>
              <a:t>Enam KPI, dipilih karena sebarannya miring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54480"/>
            <a:ext cx="97228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5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sengaja tidak ditampilkan — median menggantikannya.</a:t>
            </a:r>
            <a:endParaRPr lang="en-US" sz="1350" dirty="0"/>
          </a:p>
        </p:txBody>
      </p:sp>
      <p:sp>
        <p:nvSpPr>
          <p:cNvPr id="5" name="garis"/>
          <p:cNvSpPr/>
          <p:nvPr/>
        </p:nvSpPr>
        <p:spPr>
          <a:xfrm>
            <a:off x="731520" y="1883664"/>
            <a:ext cx="10728655" cy="25603"/>
          </a:xfrm>
          <a:prstGeom prst="rect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6" name="bulatan-bi"/>
          <p:cNvSpPr/>
          <p:nvPr/>
        </p:nvSpPr>
        <p:spPr>
          <a:xfrm>
            <a:off x="10710367" y="694944"/>
            <a:ext cx="749808" cy="749808"/>
          </a:xfrm>
          <a:prstGeom prst="ellipse">
            <a:avLst/>
          </a:prstGeom>
          <a:solidFill>
            <a:srgbClr val="EDEBFC"/>
          </a:solidFill>
          <a:ln w="12700">
            <a:solidFill>
              <a:srgbClr val="EDEBFC"/>
            </a:solidFill>
            <a:prstDash val="solid"/>
          </a:ln>
        </p:spPr>
      </p:sp>
      <p:pic>
        <p:nvPicPr>
          <p:cNvPr id="7" name="Image 0" descr="/home/claude/deck/assets/icons/b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815" y="897392"/>
            <a:ext cx="344912" cy="344912"/>
          </a:xfrm>
          <a:prstGeom prst="rect">
            <a:avLst/>
          </a:prstGeom>
        </p:spPr>
      </p:pic>
      <p:sp>
        <p:nvSpPr>
          <p:cNvPr id="8" name="kpi-0"/>
          <p:cNvSpPr/>
          <p:nvPr/>
        </p:nvSpPr>
        <p:spPr>
          <a:xfrm>
            <a:off x="731520" y="2267712"/>
            <a:ext cx="3368954" cy="1536192"/>
          </a:xfrm>
          <a:prstGeom prst="rect">
            <a:avLst/>
          </a:prstGeom>
          <a:solidFill>
            <a:srgbClr val="FDEDE6"/>
          </a:solidFill>
          <a:ln w="12700">
            <a:solidFill>
              <a:srgbClr val="FDEDE6"/>
            </a:solidFill>
            <a:prstDash val="solid"/>
          </a:ln>
        </p:spPr>
      </p:sp>
      <p:sp>
        <p:nvSpPr>
          <p:cNvPr id="9" name="kpitanda-0"/>
          <p:cNvSpPr/>
          <p:nvPr/>
        </p:nvSpPr>
        <p:spPr>
          <a:xfrm>
            <a:off x="731520" y="2267712"/>
            <a:ext cx="3368954" cy="64008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bulatan-telaah"/>
          <p:cNvSpPr/>
          <p:nvPr/>
        </p:nvSpPr>
        <p:spPr>
          <a:xfrm>
            <a:off x="969264" y="2505456"/>
            <a:ext cx="512064" cy="512064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11" name="Image 1" descr="/home/claude/deck/assets/icons/telaa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521" y="2643713"/>
            <a:ext cx="235549" cy="2355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69264" y="3108960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01D"/>
                </a:solidFill>
              </a:rPr>
              <a:t>Total luas terbakar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969264" y="3419856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SUM(luas_ha)</a:t>
            </a:r>
            <a:endParaRPr lang="en-US" sz="1000" dirty="0"/>
          </a:p>
        </p:txBody>
      </p:sp>
      <p:sp>
        <p:nvSpPr>
          <p:cNvPr id="14" name="kpi-1"/>
          <p:cNvSpPr/>
          <p:nvPr/>
        </p:nvSpPr>
        <p:spPr>
          <a:xfrm>
            <a:off x="4411370" y="2267712"/>
            <a:ext cx="3368954" cy="1536192"/>
          </a:xfrm>
          <a:prstGeom prst="rect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sp>
        <p:nvSpPr>
          <p:cNvPr id="15" name="kpitanda-1"/>
          <p:cNvSpPr/>
          <p:nvPr/>
        </p:nvSpPr>
        <p:spPr>
          <a:xfrm>
            <a:off x="4411370" y="2267712"/>
            <a:ext cx="3368954" cy="64008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bulatan-peta"/>
          <p:cNvSpPr/>
          <p:nvPr/>
        </p:nvSpPr>
        <p:spPr>
          <a:xfrm>
            <a:off x="4649114" y="2505456"/>
            <a:ext cx="512064" cy="512064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17" name="Image 2" descr="/home/claude/deck/assets/icons/p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372" y="2643713"/>
            <a:ext cx="235549" cy="23554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49114" y="3108960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01D"/>
                </a:solidFill>
              </a:rPr>
              <a:t>Daerah terdampak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4649114" y="3419856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 kode_kab</a:t>
            </a:r>
            <a:endParaRPr lang="en-US" sz="1000" dirty="0"/>
          </a:p>
        </p:txBody>
      </p:sp>
      <p:sp>
        <p:nvSpPr>
          <p:cNvPr id="20" name="kpi-2"/>
          <p:cNvSpPr/>
          <p:nvPr/>
        </p:nvSpPr>
        <p:spPr>
          <a:xfrm>
            <a:off x="8091221" y="2267712"/>
            <a:ext cx="3368954" cy="1536192"/>
          </a:xfrm>
          <a:prstGeom prst="rect">
            <a:avLst/>
          </a:prstGeom>
          <a:solidFill>
            <a:srgbClr val="E4F3EE"/>
          </a:solidFill>
          <a:ln w="12700">
            <a:solidFill>
              <a:srgbClr val="E4F3EE"/>
            </a:solidFill>
            <a:prstDash val="solid"/>
          </a:ln>
        </p:spPr>
      </p:sp>
      <p:sp>
        <p:nvSpPr>
          <p:cNvPr id="21" name="kpitanda-2"/>
          <p:cNvSpPr/>
          <p:nvPr/>
        </p:nvSpPr>
        <p:spPr>
          <a:xfrm>
            <a:off x="8091221" y="2267712"/>
            <a:ext cx="3368954" cy="64008"/>
          </a:xfrm>
          <a:prstGeom prst="rect">
            <a:avLst/>
          </a:prstGeom>
          <a:solidFill>
            <a:srgbClr val="128A61"/>
          </a:solidFill>
          <a:ln w="12700">
            <a:solidFill>
              <a:srgbClr val="128A61"/>
            </a:solidFill>
            <a:prstDash val="solid"/>
          </a:ln>
        </p:spPr>
      </p:sp>
      <p:sp>
        <p:nvSpPr>
          <p:cNvPr id="22" name="bulatan-ukur"/>
          <p:cNvSpPr/>
          <p:nvPr/>
        </p:nvSpPr>
        <p:spPr>
          <a:xfrm>
            <a:off x="8328965" y="2505456"/>
            <a:ext cx="512064" cy="512064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23" name="Image 3" descr="/home/claude/deck/assets/icons/uku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222" y="2643713"/>
            <a:ext cx="235549" cy="23554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28965" y="3108960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01D"/>
                </a:solidFill>
              </a:rPr>
              <a:t>Median daerah terdampak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8328965" y="3419856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8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MEDIANX luas_ha &gt; 0</a:t>
            </a:r>
            <a:endParaRPr lang="en-US" sz="1000" dirty="0"/>
          </a:p>
        </p:txBody>
      </p:sp>
      <p:sp>
        <p:nvSpPr>
          <p:cNvPr id="26" name="kpi-3"/>
          <p:cNvSpPr/>
          <p:nvPr/>
        </p:nvSpPr>
        <p:spPr>
          <a:xfrm>
            <a:off x="731520" y="4059936"/>
            <a:ext cx="3368954" cy="1536192"/>
          </a:xfrm>
          <a:prstGeom prst="rect">
            <a:avLst/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7" name="kpitanda-3"/>
          <p:cNvSpPr/>
          <p:nvPr/>
        </p:nvSpPr>
        <p:spPr>
          <a:xfrm>
            <a:off x="731520" y="4059936"/>
            <a:ext cx="3368954" cy="64008"/>
          </a:xfrm>
          <a:prstGeom prst="rect">
            <a:avLst/>
          </a:prstGeom>
          <a:solidFill>
            <a:srgbClr val="C98500"/>
          </a:solidFill>
          <a:ln w="12700">
            <a:solidFill>
              <a:srgbClr val="C98500"/>
            </a:solidFill>
            <a:prstDash val="solid"/>
          </a:ln>
        </p:spPr>
      </p:sp>
      <p:sp>
        <p:nvSpPr>
          <p:cNvPr id="28" name="bulatan-kalender"/>
          <p:cNvSpPr/>
          <p:nvPr/>
        </p:nvSpPr>
        <p:spPr>
          <a:xfrm>
            <a:off x="969264" y="4297680"/>
            <a:ext cx="512064" cy="512064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29" name="Image 4" descr="/home/claude/deck/assets/icons/kalend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521" y="4435937"/>
            <a:ext cx="235549" cy="235549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69264" y="4901184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01D"/>
                </a:solidFill>
              </a:rPr>
              <a:t>Perubahan tahunan</a:t>
            </a:r>
            <a:endParaRPr lang="en-US" sz="1450" dirty="0"/>
          </a:p>
        </p:txBody>
      </p:sp>
      <p:sp>
        <p:nvSpPr>
          <p:cNvPr id="31" name="Text 24"/>
          <p:cNvSpPr txBox="1"/>
          <p:nvPr/>
        </p:nvSpPr>
        <p:spPr>
          <a:xfrm>
            <a:off x="969264" y="5212080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8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 vs DATEADD(-1)</a:t>
            </a:r>
            <a:endParaRPr lang="en-US" sz="1000" dirty="0"/>
          </a:p>
        </p:txBody>
      </p:sp>
      <p:sp>
        <p:nvSpPr>
          <p:cNvPr id="32" name="kpi-4"/>
          <p:cNvSpPr/>
          <p:nvPr/>
        </p:nvSpPr>
        <p:spPr>
          <a:xfrm>
            <a:off x="4411370" y="4059936"/>
            <a:ext cx="3368954" cy="1536192"/>
          </a:xfrm>
          <a:prstGeom prst="rect">
            <a:avLst/>
          </a:prstGeom>
          <a:solidFill>
            <a:srgbClr val="EDEBFC"/>
          </a:solidFill>
          <a:ln w="12700">
            <a:solidFill>
              <a:srgbClr val="EDEBFC"/>
            </a:solidFill>
            <a:prstDash val="solid"/>
          </a:ln>
        </p:spPr>
      </p:sp>
      <p:sp>
        <p:nvSpPr>
          <p:cNvPr id="33" name="kpitanda-4"/>
          <p:cNvSpPr/>
          <p:nvPr/>
        </p:nvSpPr>
        <p:spPr>
          <a:xfrm>
            <a:off x="4411370" y="4059936"/>
            <a:ext cx="3368954" cy="64008"/>
          </a:xfrm>
          <a:prstGeom prst="rect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34" name="bulatan-bi"/>
          <p:cNvSpPr/>
          <p:nvPr/>
        </p:nvSpPr>
        <p:spPr>
          <a:xfrm>
            <a:off x="4649114" y="4297680"/>
            <a:ext cx="512064" cy="512064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35" name="Image 5" descr="/home/claude/deck/assets/icons/b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7372" y="4435937"/>
            <a:ext cx="235549" cy="235549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4649114" y="4901184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01D"/>
                </a:solidFill>
              </a:rPr>
              <a:t>Konsentrasi 10 besar</a:t>
            </a:r>
            <a:endParaRPr lang="en-US" sz="1450" dirty="0"/>
          </a:p>
        </p:txBody>
      </p:sp>
      <p:sp>
        <p:nvSpPr>
          <p:cNvPr id="37" name="Text 29"/>
          <p:cNvSpPr txBox="1"/>
          <p:nvPr/>
        </p:nvSpPr>
        <p:spPr>
          <a:xfrm>
            <a:off x="4649114" y="5212080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TOPN(10) / total</a:t>
            </a:r>
            <a:endParaRPr lang="en-US" sz="1000" dirty="0"/>
          </a:p>
        </p:txBody>
      </p:sp>
      <p:sp>
        <p:nvSpPr>
          <p:cNvPr id="38" name="kpi-5"/>
          <p:cNvSpPr/>
          <p:nvPr/>
        </p:nvSpPr>
        <p:spPr>
          <a:xfrm>
            <a:off x="8091221" y="4059936"/>
            <a:ext cx="3368954" cy="1536192"/>
          </a:xfrm>
          <a:prstGeom prst="rect">
            <a:avLst/>
          </a:prstGeom>
          <a:solidFill>
            <a:srgbClr val="FAE9E6"/>
          </a:solidFill>
          <a:ln w="12700">
            <a:solidFill>
              <a:srgbClr val="FAE9E6"/>
            </a:solidFill>
            <a:prstDash val="solid"/>
          </a:ln>
        </p:spPr>
      </p:sp>
      <p:sp>
        <p:nvSpPr>
          <p:cNvPr id="39" name="kpitanda-5"/>
          <p:cNvSpPr/>
          <p:nvPr/>
        </p:nvSpPr>
        <p:spPr>
          <a:xfrm>
            <a:off x="8091221" y="4059936"/>
            <a:ext cx="3368954" cy="64008"/>
          </a:xfrm>
          <a:prstGeom prst="rect">
            <a:avLst/>
          </a:prstGeom>
          <a:solidFill>
            <a:srgbClr val="C2321C"/>
          </a:solidFill>
          <a:ln w="12700">
            <a:solidFill>
              <a:srgbClr val="C2321C"/>
            </a:solidFill>
            <a:prstDash val="solid"/>
          </a:ln>
        </p:spPr>
      </p:sp>
      <p:sp>
        <p:nvSpPr>
          <p:cNvPr id="40" name="bulatan-peringatan"/>
          <p:cNvSpPr/>
          <p:nvPr/>
        </p:nvSpPr>
        <p:spPr>
          <a:xfrm>
            <a:off x="8328965" y="4297680"/>
            <a:ext cx="512064" cy="512064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41" name="Image 6" descr="/home/claude/deck/assets/icons/peringat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222" y="4435937"/>
            <a:ext cx="235549" cy="235549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8328965" y="4901184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01D"/>
                </a:solidFill>
              </a:rPr>
              <a:t>Daerah terbakar berulang</a:t>
            </a:r>
            <a:endParaRPr lang="en-US" sz="1450" dirty="0"/>
          </a:p>
        </p:txBody>
      </p:sp>
      <p:sp>
        <p:nvSpPr>
          <p:cNvPr id="43" name="Text 34"/>
          <p:cNvSpPr txBox="1"/>
          <p:nvPr/>
        </p:nvSpPr>
        <p:spPr>
          <a:xfrm>
            <a:off x="8328965" y="5212080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23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0 pada ≥ 7 dari 9 tahun</a:t>
            </a:r>
            <a:endParaRPr lang="en-US" sz="1000" dirty="0"/>
          </a:p>
        </p:txBody>
      </p:sp>
      <p:sp>
        <p:nvSpPr>
          <p:cNvPr id="44" name="garis"/>
          <p:cNvSpPr/>
          <p:nvPr/>
        </p:nvSpPr>
        <p:spPr>
          <a:xfrm>
            <a:off x="731520" y="5852160"/>
            <a:ext cx="10728655" cy="12802"/>
          </a:xfrm>
          <a:prstGeom prst="rect">
            <a:avLst/>
          </a:prstGeom>
          <a:solidFill>
            <a:srgbClr val="E2E5DE"/>
          </a:solidFill>
          <a:ln w="12700">
            <a:solidFill>
              <a:srgbClr val="E2E5DE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731520" y="6016752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Aturan penyajian — 2026 selalu berlabel data berjalan  ·  angka 2023 menautkan ke halaman kualitas data  ·  peta memakai skala kuantil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25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pPr algn="l" indent="0" marL="0">
              <a:buNone/>
            </a:pPr>
            <a:r>
              <a:rPr lang="en-US" sz="1000" b="1" spc="250" kern="0" dirty="0">
                <a:solidFill>
                  <a:srgbClr val="65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INSIGHT DAN REKOMENDASI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694944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01D"/>
                </a:solidFill>
              </a:rPr>
              <a:t>Lima kesimpulan yang bisa ditindaklanjuti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54480"/>
            <a:ext cx="97228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5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Diturunkan dari sembilan tahun data, bukan dari asumsi.</a:t>
            </a:r>
            <a:endParaRPr lang="en-US" sz="1350" dirty="0"/>
          </a:p>
        </p:txBody>
      </p:sp>
      <p:sp>
        <p:nvSpPr>
          <p:cNvPr id="5" name="garis"/>
          <p:cNvSpPr/>
          <p:nvPr/>
        </p:nvSpPr>
        <p:spPr>
          <a:xfrm>
            <a:off x="731520" y="1883664"/>
            <a:ext cx="10728655" cy="25603"/>
          </a:xfrm>
          <a:prstGeom prst="rect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6" name="bulatan-bi"/>
          <p:cNvSpPr/>
          <p:nvPr/>
        </p:nvSpPr>
        <p:spPr>
          <a:xfrm>
            <a:off x="10710367" y="694944"/>
            <a:ext cx="749808" cy="749808"/>
          </a:xfrm>
          <a:prstGeom prst="ellipse">
            <a:avLst/>
          </a:prstGeom>
          <a:solidFill>
            <a:srgbClr val="EDEBFC"/>
          </a:solidFill>
          <a:ln w="12700">
            <a:solidFill>
              <a:srgbClr val="EDEBFC"/>
            </a:solidFill>
            <a:prstDash val="solid"/>
          </a:ln>
        </p:spPr>
      </p:sp>
      <p:pic>
        <p:nvPicPr>
          <p:cNvPr id="7" name="Image 0" descr="/home/claude/deck/assets/icons/b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815" y="897392"/>
            <a:ext cx="344912" cy="344912"/>
          </a:xfrm>
          <a:prstGeom prst="rect">
            <a:avLst/>
          </a:prstGeom>
        </p:spPr>
      </p:pic>
      <p:sp>
        <p:nvSpPr>
          <p:cNvPr id="8" name="rek-0"/>
          <p:cNvSpPr/>
          <p:nvPr/>
        </p:nvSpPr>
        <p:spPr>
          <a:xfrm>
            <a:off x="731520" y="2304288"/>
            <a:ext cx="10728655" cy="694944"/>
          </a:xfrm>
          <a:prstGeom prst="rect">
            <a:avLst/>
          </a:prstGeom>
          <a:solidFill>
            <a:srgbClr val="FDEDE6"/>
          </a:solidFill>
          <a:ln w="12700">
            <a:solidFill>
              <a:srgbClr val="FDEDE6"/>
            </a:solidFill>
            <a:prstDash val="solid"/>
          </a:ln>
        </p:spPr>
      </p:sp>
      <p:sp>
        <p:nvSpPr>
          <p:cNvPr id="9" name="rektanda-0"/>
          <p:cNvSpPr/>
          <p:nvPr/>
        </p:nvSpPr>
        <p:spPr>
          <a:xfrm>
            <a:off x="731520" y="2304288"/>
            <a:ext cx="64008" cy="694944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bulatan-uang"/>
          <p:cNvSpPr/>
          <p:nvPr/>
        </p:nvSpPr>
        <p:spPr>
          <a:xfrm>
            <a:off x="1005840" y="2423160"/>
            <a:ext cx="457200" cy="45720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11" name="Image 1" descr="/home/claude/deck/assets/icons/ua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" y="254660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9344" y="235000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2157984" y="2377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01D"/>
                </a:solidFill>
              </a:rPr>
              <a:t>Prioritaskan 20 kabupaten, bukan 514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377440"/>
            <a:ext cx="4785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20 daerah teratas menanggung 53,8% luas terbakar.</a:t>
            </a:r>
            <a:endParaRPr lang="en-US" sz="1200" dirty="0"/>
          </a:p>
        </p:txBody>
      </p:sp>
      <p:sp>
        <p:nvSpPr>
          <p:cNvPr id="15" name="rek-1"/>
          <p:cNvSpPr/>
          <p:nvPr/>
        </p:nvSpPr>
        <p:spPr>
          <a:xfrm>
            <a:off x="731520" y="3090672"/>
            <a:ext cx="10728655" cy="694944"/>
          </a:xfrm>
          <a:prstGeom prst="rect">
            <a:avLst/>
          </a:prstGeom>
          <a:solidFill>
            <a:srgbClr val="E9F1FC"/>
          </a:solidFill>
          <a:ln w="12700">
            <a:solidFill>
              <a:srgbClr val="E9F1FC"/>
            </a:solidFill>
            <a:prstDash val="solid"/>
          </a:ln>
        </p:spPr>
      </p:sp>
      <p:sp>
        <p:nvSpPr>
          <p:cNvPr id="16" name="rektanda-1"/>
          <p:cNvSpPr/>
          <p:nvPr/>
        </p:nvSpPr>
        <p:spPr>
          <a:xfrm>
            <a:off x="731520" y="3090672"/>
            <a:ext cx="64008" cy="694944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7" name="bulatan-peta"/>
          <p:cNvSpPr/>
          <p:nvPr/>
        </p:nvSpPr>
        <p:spPr>
          <a:xfrm>
            <a:off x="1005840" y="3209544"/>
            <a:ext cx="457200" cy="45720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18" name="Image 2" descr="/home/claude/deck/assets/icons/p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" y="3332988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09344" y="313639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78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2157984" y="31638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01D"/>
                </a:solidFill>
              </a:rPr>
              <a:t>NTT paling sering terlewat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3163824"/>
            <a:ext cx="4785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862.908 ha kumulatif — Riau hanya peringkat kedelapan.</a:t>
            </a:r>
            <a:endParaRPr lang="en-US" sz="1200" dirty="0"/>
          </a:p>
        </p:txBody>
      </p:sp>
      <p:sp>
        <p:nvSpPr>
          <p:cNvPr id="22" name="rek-2"/>
          <p:cNvSpPr/>
          <p:nvPr/>
        </p:nvSpPr>
        <p:spPr>
          <a:xfrm>
            <a:off x="731520" y="3877056"/>
            <a:ext cx="10728655" cy="694944"/>
          </a:xfrm>
          <a:prstGeom prst="rect">
            <a:avLst/>
          </a:prstGeom>
          <a:solidFill>
            <a:srgbClr val="E4F3EE"/>
          </a:solidFill>
          <a:ln w="12700">
            <a:solidFill>
              <a:srgbClr val="E4F3EE"/>
            </a:solidFill>
            <a:prstDash val="solid"/>
          </a:ln>
        </p:spPr>
      </p:sp>
      <p:sp>
        <p:nvSpPr>
          <p:cNvPr id="23" name="rektanda-2"/>
          <p:cNvSpPr/>
          <p:nvPr/>
        </p:nvSpPr>
        <p:spPr>
          <a:xfrm>
            <a:off x="731520" y="3877056"/>
            <a:ext cx="64008" cy="694944"/>
          </a:xfrm>
          <a:prstGeom prst="rect">
            <a:avLst/>
          </a:prstGeom>
          <a:solidFill>
            <a:srgbClr val="128A61"/>
          </a:solidFill>
          <a:ln w="12700">
            <a:solidFill>
              <a:srgbClr val="128A61"/>
            </a:solidFill>
            <a:prstDash val="solid"/>
          </a:ln>
        </p:spPr>
      </p:sp>
      <p:sp>
        <p:nvSpPr>
          <p:cNvPr id="24" name="bulatan-naik"/>
          <p:cNvSpPr/>
          <p:nvPr/>
        </p:nvSpPr>
        <p:spPr>
          <a:xfrm>
            <a:off x="1005840" y="3995928"/>
            <a:ext cx="457200" cy="45720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25" name="Image 3" descr="/home/claude/deck/assets/icons/nai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" y="4119372"/>
            <a:ext cx="210312" cy="21031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609344" y="392277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8A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900" dirty="0"/>
          </a:p>
        </p:txBody>
      </p:sp>
      <p:sp>
        <p:nvSpPr>
          <p:cNvPr id="27" name="Text 21"/>
          <p:cNvSpPr txBox="1"/>
          <p:nvPr/>
        </p:nvSpPr>
        <p:spPr>
          <a:xfrm>
            <a:off x="2157984" y="39502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01D"/>
                </a:solidFill>
              </a:rPr>
              <a:t>Ubah indikator ke jumlah daerah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492240" y="3950208"/>
            <a:ext cx="4785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Total turun 78%, daerah terdampak naik ke 358.</a:t>
            </a:r>
            <a:endParaRPr lang="en-US" sz="1200" dirty="0"/>
          </a:p>
        </p:txBody>
      </p:sp>
      <p:sp>
        <p:nvSpPr>
          <p:cNvPr id="29" name="rek-3"/>
          <p:cNvSpPr/>
          <p:nvPr/>
        </p:nvSpPr>
        <p:spPr>
          <a:xfrm>
            <a:off x="731520" y="4663440"/>
            <a:ext cx="10728655" cy="694944"/>
          </a:xfrm>
          <a:prstGeom prst="rect">
            <a:avLst/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30" name="rektanda-3"/>
          <p:cNvSpPr/>
          <p:nvPr/>
        </p:nvSpPr>
        <p:spPr>
          <a:xfrm>
            <a:off x="731520" y="4663440"/>
            <a:ext cx="64008" cy="694944"/>
          </a:xfrm>
          <a:prstGeom prst="rect">
            <a:avLst/>
          </a:prstGeom>
          <a:solidFill>
            <a:srgbClr val="C98500"/>
          </a:solidFill>
          <a:ln w="12700">
            <a:solidFill>
              <a:srgbClr val="C98500"/>
            </a:solidFill>
            <a:prstDash val="solid"/>
          </a:ln>
        </p:spPr>
      </p:sp>
      <p:sp>
        <p:nvSpPr>
          <p:cNvPr id="31" name="bulatan-api"/>
          <p:cNvSpPr/>
          <p:nvPr/>
        </p:nvSpPr>
        <p:spPr>
          <a:xfrm>
            <a:off x="1005840" y="4782312"/>
            <a:ext cx="457200" cy="45720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32" name="Image 4" descr="/home/claude/deck/assets/icons/ap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84" y="4905756"/>
            <a:ext cx="210312" cy="21031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609344" y="470916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85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900" dirty="0"/>
          </a:p>
        </p:txBody>
      </p:sp>
      <p:sp>
        <p:nvSpPr>
          <p:cNvPr id="34" name="Text 27"/>
          <p:cNvSpPr txBox="1"/>
          <p:nvPr/>
        </p:nvSpPr>
        <p:spPr>
          <a:xfrm>
            <a:off x="2157984" y="47365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01D"/>
                </a:solidFill>
              </a:rPr>
              <a:t>Dana siaga tahun El Niño terpisah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6492240" y="4736592"/>
            <a:ext cx="4785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2019 dan 2023 adalah 2,8× dan 1,7× rata-rata.</a:t>
            </a:r>
            <a:endParaRPr lang="en-US" sz="1200" dirty="0"/>
          </a:p>
        </p:txBody>
      </p:sp>
      <p:sp>
        <p:nvSpPr>
          <p:cNvPr id="36" name="rek-4"/>
          <p:cNvSpPr/>
          <p:nvPr/>
        </p:nvSpPr>
        <p:spPr>
          <a:xfrm>
            <a:off x="731520" y="5449824"/>
            <a:ext cx="10728655" cy="694944"/>
          </a:xfrm>
          <a:prstGeom prst="rect">
            <a:avLst/>
          </a:prstGeom>
          <a:solidFill>
            <a:srgbClr val="FAE9E6"/>
          </a:solidFill>
          <a:ln w="12700">
            <a:solidFill>
              <a:srgbClr val="FAE9E6"/>
            </a:solidFill>
            <a:prstDash val="solid"/>
          </a:ln>
        </p:spPr>
      </p:sp>
      <p:sp>
        <p:nvSpPr>
          <p:cNvPr id="37" name="rektanda-4"/>
          <p:cNvSpPr/>
          <p:nvPr/>
        </p:nvSpPr>
        <p:spPr>
          <a:xfrm>
            <a:off x="731520" y="5449824"/>
            <a:ext cx="64008" cy="694944"/>
          </a:xfrm>
          <a:prstGeom prst="rect">
            <a:avLst/>
          </a:prstGeom>
          <a:solidFill>
            <a:srgbClr val="C2321C"/>
          </a:solidFill>
          <a:ln w="12700">
            <a:solidFill>
              <a:srgbClr val="C2321C"/>
            </a:solidFill>
            <a:prstDash val="solid"/>
          </a:ln>
        </p:spPr>
      </p:sp>
      <p:sp>
        <p:nvSpPr>
          <p:cNvPr id="38" name="bulatan-peringatan"/>
          <p:cNvSpPr/>
          <p:nvPr/>
        </p:nvSpPr>
        <p:spPr>
          <a:xfrm>
            <a:off x="1005840" y="5568696"/>
            <a:ext cx="457200" cy="45720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39" name="Image 5" descr="/home/claude/deck/assets/icons/peringat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9284" y="5692140"/>
            <a:ext cx="210312" cy="210312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609344" y="549554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232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1900" dirty="0"/>
          </a:p>
        </p:txBody>
      </p:sp>
      <p:sp>
        <p:nvSpPr>
          <p:cNvPr id="41" name="Text 33"/>
          <p:cNvSpPr txBox="1"/>
          <p:nvPr/>
        </p:nvSpPr>
        <p:spPr>
          <a:xfrm>
            <a:off x="2157984" y="552297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01D"/>
                </a:solidFill>
              </a:rPr>
              <a:t>Selesaikan selisih 2023 dulu</a:t>
            </a:r>
            <a:endParaRPr lang="en-US" sz="1450" dirty="0"/>
          </a:p>
        </p:txBody>
      </p:sp>
      <p:sp>
        <p:nvSpPr>
          <p:cNvPr id="42" name="Text 34"/>
          <p:cNvSpPr txBox="1"/>
          <p:nvPr/>
        </p:nvSpPr>
        <p:spPr>
          <a:xfrm>
            <a:off x="6492240" y="5522976"/>
            <a:ext cx="4785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06A"/>
                </a:solidFill>
              </a:rPr>
              <a:t>13,3% cukup untuk membatalkan perbandingan antartahun.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ta-penutup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pita-bawah-penutup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FDEDE6"/>
          </a:solidFill>
          <a:ln w="12700">
            <a:solidFill>
              <a:srgbClr val="FDEDE6"/>
            </a:solidFill>
            <a:prstDash val="solid"/>
          </a:ln>
        </p:spPr>
      </p:sp>
      <p:sp>
        <p:nvSpPr>
          <p:cNvPr id="4" name="bulatan-api"/>
          <p:cNvSpPr/>
          <p:nvPr/>
        </p:nvSpPr>
        <p:spPr>
          <a:xfrm>
            <a:off x="731520" y="914400"/>
            <a:ext cx="713232" cy="713232"/>
          </a:xfrm>
          <a:prstGeom prst="ellipse">
            <a:avLst/>
          </a:prstGeom>
          <a:solidFill>
            <a:srgbClr val="FDEDE6"/>
          </a:solidFill>
          <a:ln w="12700">
            <a:solidFill>
              <a:srgbClr val="FDEDE6"/>
            </a:solidFill>
            <a:prstDash val="solid"/>
          </a:ln>
        </p:spPr>
      </p:sp>
      <p:pic>
        <p:nvPicPr>
          <p:cNvPr id="5" name="Image 0" descr="/home/claude/deck/assets/icons/a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93" y="1106973"/>
            <a:ext cx="328087" cy="3280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1338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B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PENUTUP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20" kern="0" dirty="0">
                <a:solidFill>
                  <a:srgbClr val="1B2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Siap untuk asesmen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260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5706A"/>
                </a:solidFill>
              </a:rPr>
              <a:t>Delapan unit kompetensi, satu studi kasus utuh, seluruh angka dapat dihitung ulang dari berkas sumber.</a:t>
            </a:r>
            <a:endParaRPr lang="en-US" sz="1400" dirty="0"/>
          </a:p>
        </p:txBody>
      </p:sp>
      <p:sp>
        <p:nvSpPr>
          <p:cNvPr id="9" name="garis-tegak"/>
          <p:cNvSpPr/>
          <p:nvPr/>
        </p:nvSpPr>
        <p:spPr>
          <a:xfrm>
            <a:off x="7589520" y="914400"/>
            <a:ext cx="12802" cy="3291840"/>
          </a:xfrm>
          <a:prstGeom prst="rect">
            <a:avLst/>
          </a:prstGeom>
          <a:solidFill>
            <a:srgbClr val="E2E5DE"/>
          </a:solidFill>
          <a:ln w="12700">
            <a:solidFill>
              <a:srgbClr val="E2E5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9144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4A3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PERTANYAAN YANG SUDAH DISIAPKAN</a:t>
            </a:r>
            <a:endParaRPr lang="en-US" sz="950" dirty="0"/>
          </a:p>
        </p:txBody>
      </p:sp>
      <p:sp>
        <p:nvSpPr>
          <p:cNvPr id="11" name="no-tanya-akhir"/>
          <p:cNvSpPr/>
          <p:nvPr/>
        </p:nvSpPr>
        <p:spPr>
          <a:xfrm>
            <a:off x="7955280" y="1371600"/>
            <a:ext cx="329184" cy="329184"/>
          </a:xfrm>
          <a:prstGeom prst="ellipse">
            <a:avLst/>
          </a:prstGeom>
          <a:solidFill>
            <a:srgbClr val="EDEBFC"/>
          </a:solidFill>
          <a:ln w="12700">
            <a:solidFill>
              <a:srgbClr val="EDEB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449056" y="13533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Mengapa baris Total tidak dibuang?</a:t>
            </a:r>
            <a:endParaRPr lang="en-US" sz="1500" dirty="0"/>
          </a:p>
        </p:txBody>
      </p:sp>
      <p:sp>
        <p:nvSpPr>
          <p:cNvPr id="14" name="no-tanya-akhir"/>
          <p:cNvSpPr/>
          <p:nvPr/>
        </p:nvSpPr>
        <p:spPr>
          <a:xfrm>
            <a:off x="7955280" y="2359152"/>
            <a:ext cx="329184" cy="329184"/>
          </a:xfrm>
          <a:prstGeom prst="ellipse">
            <a:avLst/>
          </a:prstGeom>
          <a:solidFill>
            <a:srgbClr val="EDEBFC"/>
          </a:solidFill>
          <a:ln w="12700">
            <a:solidFill>
              <a:srgbClr val="EDEBF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449056" y="23408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Mengapa outlier tidak dihapus?</a:t>
            </a:r>
            <a:endParaRPr lang="en-US" sz="1500" dirty="0"/>
          </a:p>
        </p:txBody>
      </p:sp>
      <p:sp>
        <p:nvSpPr>
          <p:cNvPr id="17" name="no-tanya-akhir"/>
          <p:cNvSpPr/>
          <p:nvPr/>
        </p:nvSpPr>
        <p:spPr>
          <a:xfrm>
            <a:off x="7955280" y="3346704"/>
            <a:ext cx="329184" cy="329184"/>
          </a:xfrm>
          <a:prstGeom prst="ellipse">
            <a:avLst/>
          </a:prstGeom>
          <a:solidFill>
            <a:srgbClr val="EDEBFC"/>
          </a:solidFill>
          <a:ln w="12700">
            <a:solidFill>
              <a:srgbClr val="EDEBF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5528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449056" y="332841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Mengapa selisih 2023 tidak dikoreksi?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4846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B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LAMPIRAN YANG DIBAWA</a:t>
            </a:r>
            <a:endParaRPr lang="en-US" sz="950" dirty="0"/>
          </a:p>
        </p:txBody>
      </p:sp>
      <p:sp>
        <p:nvSpPr>
          <p:cNvPr id="21" name="bulatan-kumpul"/>
          <p:cNvSpPr/>
          <p:nvPr/>
        </p:nvSpPr>
        <p:spPr>
          <a:xfrm>
            <a:off x="731520" y="5157216"/>
            <a:ext cx="457200" cy="45720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22" name="Image 1" descr="/home/claude/deck/assets/icons/kumpu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" y="5280660"/>
            <a:ext cx="210312" cy="2103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31520" y="5705856"/>
            <a:ext cx="236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1D"/>
                </a:solidFill>
              </a:rPr>
              <a:t>Script 01 s.d. 05</a:t>
            </a:r>
            <a:endParaRPr lang="en-US" sz="1250" dirty="0"/>
          </a:p>
        </p:txBody>
      </p:sp>
      <p:sp>
        <p:nvSpPr>
          <p:cNvPr id="24" name="bulatan-dokumen"/>
          <p:cNvSpPr/>
          <p:nvPr/>
        </p:nvSpPr>
        <p:spPr>
          <a:xfrm>
            <a:off x="3413684" y="5157216"/>
            <a:ext cx="457200" cy="45720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25" name="Image 2" descr="/home/claude/deck/assets/icons/dokum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128" y="5280660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3413684" y="5705856"/>
            <a:ext cx="236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1D"/>
                </a:solidFill>
              </a:rPr>
              <a:t>Kamus data &amp; log validasi</a:t>
            </a:r>
            <a:endParaRPr lang="en-US" sz="1250" dirty="0"/>
          </a:p>
        </p:txBody>
      </p:sp>
      <p:sp>
        <p:nvSpPr>
          <p:cNvPr id="27" name="bulatan-bi"/>
          <p:cNvSpPr/>
          <p:nvPr/>
        </p:nvSpPr>
        <p:spPr>
          <a:xfrm>
            <a:off x="6095848" y="5157216"/>
            <a:ext cx="457200" cy="45720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28" name="Image 3" descr="/home/claude/deck/assets/icons/b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292" y="5280660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095848" y="5705856"/>
            <a:ext cx="236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1D"/>
                </a:solidFill>
              </a:rPr>
              <a:t>dashboard_karhutla.pbix</a:t>
            </a:r>
            <a:endParaRPr lang="en-US" sz="1250" dirty="0"/>
          </a:p>
        </p:txBody>
      </p:sp>
      <p:sp>
        <p:nvSpPr>
          <p:cNvPr id="30" name="bulatan-dokumen"/>
          <p:cNvSpPr/>
          <p:nvPr/>
        </p:nvSpPr>
        <p:spPr>
          <a:xfrm>
            <a:off x="8778011" y="5157216"/>
            <a:ext cx="457200" cy="457200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</p:spPr>
      </p:sp>
      <p:pic>
        <p:nvPicPr>
          <p:cNvPr id="31" name="Image 4" descr="/home/claude/deck/assets/icons/dokum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1455" y="5280660"/>
            <a:ext cx="210312" cy="21031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778011" y="5705856"/>
            <a:ext cx="236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1D"/>
                </a:solidFill>
              </a:rPr>
              <a:t>Portofolio lengkap (PDF)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73152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70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Terima kasih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6422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39D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rhutla Berwarna">
  <a:themeElements>
    <a:clrScheme name="Karhutla Berwarna">
      <a:dk1>
        <a:srgbClr val="1B201D"/>
      </a:dk1>
      <a:lt1>
        <a:srgbClr val="FFFDF9"/>
      </a:lt1>
      <a:dk2>
        <a:srgbClr val="2E3A31"/>
      </a:dk2>
      <a:lt2>
        <a:srgbClr val="FDEDE6"/>
      </a:lt2>
      <a:accent1>
        <a:srgbClr val="EB6834"/>
      </a:accent1>
      <a:accent2>
        <a:srgbClr val="2A78D6"/>
      </a:accent2>
      <a:accent3>
        <a:srgbClr val="6250D6"/>
      </a:accent3>
      <a:accent4>
        <a:srgbClr val="128A61"/>
      </a:accent4>
      <a:accent5>
        <a:srgbClr val="C98500"/>
      </a:accent5>
      <a:accent6>
        <a:srgbClr val="1E7A3C"/>
      </a:accent6>
      <a:hlink>
        <a:srgbClr val="2A78D6"/>
      </a:hlink>
      <a:folHlink>
        <a:srgbClr val="6250D6"/>
      </a:folHlink>
    </a:clrScheme>
    <a:fontScheme name="Karhutla Berwarna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Portofolio Data Analyst DSS.06.09.25</dc:title>
  <dc:subject>Studi kasus luas karhutla 2018-2026</dc:subject>
  <dc:creator>Peserta Sertifikasi BNSP</dc:creator>
  <cp:lastModifiedBy>Peserta Sertifikasi BNSP</cp:lastModifiedBy>
  <cp:revision>1</cp:revision>
  <dcterms:created xsi:type="dcterms:W3CDTF">2026-10-15T02:27:44Z</dcterms:created>
  <dcterms:modified xsi:type="dcterms:W3CDTF">2026-10-15T02:27:44Z</dcterms:modified>
</cp:coreProperties>
</file>